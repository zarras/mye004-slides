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comments/comment1.xml" ContentType="application/vnd.openxmlformats-officedocument.presentationml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26"/>
  </p:notesMasterIdLst>
  <p:handoutMasterIdLst>
    <p:handoutMasterId r:id="rId27"/>
  </p:handoutMasterIdLst>
  <p:sldIdLst>
    <p:sldId id="256" r:id="rId2"/>
    <p:sldId id="266" r:id="rId3"/>
    <p:sldId id="267" r:id="rId4"/>
    <p:sldId id="268" r:id="rId5"/>
    <p:sldId id="269" r:id="rId6"/>
    <p:sldId id="271" r:id="rId7"/>
    <p:sldId id="272" r:id="rId8"/>
    <p:sldId id="466" r:id="rId9"/>
    <p:sldId id="273" r:id="rId10"/>
    <p:sldId id="274" r:id="rId11"/>
    <p:sldId id="485" r:id="rId12"/>
    <p:sldId id="488" r:id="rId13"/>
    <p:sldId id="489" r:id="rId14"/>
    <p:sldId id="490" r:id="rId15"/>
    <p:sldId id="491" r:id="rId16"/>
    <p:sldId id="492" r:id="rId17"/>
    <p:sldId id="493" r:id="rId18"/>
    <p:sldId id="494" r:id="rId19"/>
    <p:sldId id="495" r:id="rId20"/>
    <p:sldId id="496" r:id="rId21"/>
    <p:sldId id="497" r:id="rId22"/>
    <p:sldId id="498" r:id="rId23"/>
    <p:sldId id="499" r:id="rId24"/>
    <p:sldId id="500" r:id="rId25"/>
  </p:sldIdLst>
  <p:sldSz cx="9144000" cy="6858000" type="screen4x3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arras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00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1" autoAdjust="0"/>
    <p:restoredTop sz="90311" autoAdjust="0"/>
  </p:normalViewPr>
  <p:slideViewPr>
    <p:cSldViewPr>
      <p:cViewPr>
        <p:scale>
          <a:sx n="80" d="100"/>
          <a:sy n="80" d="100"/>
        </p:scale>
        <p:origin x="-797" y="-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5604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8-11-30T20:09:52.408" idx="1">
    <p:pos x="2699" y="382"/>
    <p:text>this is a good alternative if you dont have time to extract class and reengineer in general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65341"/>
          </a:xfrm>
          <a:prstGeom prst="rect">
            <a:avLst/>
          </a:prstGeom>
        </p:spPr>
        <p:txBody>
          <a:bodyPr vert="horz" lIns="95005" tIns="47503" rIns="95005" bIns="47503" rtlCol="0"/>
          <a:lstStyle>
            <a:lvl1pPr algn="l">
              <a:defRPr sz="13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2"/>
            <a:ext cx="2971800" cy="465341"/>
          </a:xfrm>
          <a:prstGeom prst="rect">
            <a:avLst/>
          </a:prstGeom>
        </p:spPr>
        <p:txBody>
          <a:bodyPr vert="horz" lIns="95005" tIns="47503" rIns="95005" bIns="47503" rtlCol="0"/>
          <a:lstStyle>
            <a:lvl1pPr algn="r">
              <a:defRPr sz="1300"/>
            </a:lvl1pPr>
          </a:lstStyle>
          <a:p>
            <a:fld id="{84CA1DF6-9F31-441E-947E-BABD0C57E452}" type="datetimeFigureOut">
              <a:rPr lang="el-GR" smtClean="0"/>
              <a:pPr/>
              <a:t>1/12/2023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574"/>
            <a:ext cx="2971800" cy="465340"/>
          </a:xfrm>
          <a:prstGeom prst="rect">
            <a:avLst/>
          </a:prstGeom>
        </p:spPr>
        <p:txBody>
          <a:bodyPr vert="horz" lIns="95005" tIns="47503" rIns="95005" bIns="47503" rtlCol="0" anchor="b"/>
          <a:lstStyle>
            <a:lvl1pPr algn="l">
              <a:defRPr sz="1300"/>
            </a:lvl1pPr>
          </a:lstStyle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574"/>
            <a:ext cx="2971800" cy="465340"/>
          </a:xfrm>
          <a:prstGeom prst="rect">
            <a:avLst/>
          </a:prstGeom>
        </p:spPr>
        <p:txBody>
          <a:bodyPr vert="horz" lIns="95005" tIns="47503" rIns="95005" bIns="47503" rtlCol="0" anchor="b"/>
          <a:lstStyle>
            <a:lvl1pPr algn="r">
              <a:defRPr sz="1300"/>
            </a:lvl1pPr>
          </a:lstStyle>
          <a:p>
            <a:fld id="{86FF8116-8529-4889-9D1B-5DD34A463A5A}" type="slidenum">
              <a:rPr lang="el-GR" smtClean="0"/>
              <a:pPr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64820"/>
          </a:xfrm>
          <a:prstGeom prst="rect">
            <a:avLst/>
          </a:prstGeom>
        </p:spPr>
        <p:txBody>
          <a:bodyPr vert="horz" lIns="95005" tIns="47503" rIns="95005" bIns="47503" rtlCol="0"/>
          <a:lstStyle>
            <a:lvl1pPr algn="l">
              <a:defRPr sz="13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64820"/>
          </a:xfrm>
          <a:prstGeom prst="rect">
            <a:avLst/>
          </a:prstGeom>
        </p:spPr>
        <p:txBody>
          <a:bodyPr vert="horz" lIns="95005" tIns="47503" rIns="95005" bIns="47503" rtlCol="0"/>
          <a:lstStyle>
            <a:lvl1pPr algn="r">
              <a:defRPr sz="1300"/>
            </a:lvl1pPr>
          </a:lstStyle>
          <a:p>
            <a:fld id="{DC17DF70-03C8-4BDB-82BF-9C076E474B74}" type="datetimeFigureOut">
              <a:rPr lang="el-GR" smtClean="0"/>
              <a:pPr/>
              <a:t>1/12/2023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3313" y="695325"/>
            <a:ext cx="4651375" cy="34877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05" tIns="47503" rIns="95005" bIns="47503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5005" tIns="47503" rIns="95005" bIns="47503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6"/>
            <a:ext cx="2971800" cy="464820"/>
          </a:xfrm>
          <a:prstGeom prst="rect">
            <a:avLst/>
          </a:prstGeom>
        </p:spPr>
        <p:txBody>
          <a:bodyPr vert="horz" lIns="95005" tIns="47503" rIns="95005" bIns="47503" rtlCol="0" anchor="b"/>
          <a:lstStyle>
            <a:lvl1pPr algn="l">
              <a:defRPr sz="13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6"/>
            <a:ext cx="2971800" cy="464820"/>
          </a:xfrm>
          <a:prstGeom prst="rect">
            <a:avLst/>
          </a:prstGeom>
        </p:spPr>
        <p:txBody>
          <a:bodyPr vert="horz" lIns="95005" tIns="47503" rIns="95005" bIns="47503" rtlCol="0" anchor="b"/>
          <a:lstStyle>
            <a:lvl1pPr algn="r">
              <a:defRPr sz="1300"/>
            </a:lvl1pPr>
          </a:lstStyle>
          <a:p>
            <a:fld id="{519E72D8-DBAA-4DCF-87F7-0480A1282348}" type="slidenum">
              <a:rPr lang="el-GR" smtClean="0"/>
              <a:pPr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Explain that the resolution of long methods</a:t>
            </a:r>
            <a:r>
              <a:rPr lang="en-US" baseline="0" dirty="0" smtClean="0"/>
              <a:t> is important before extract class to have something to move to the extracted class</a:t>
            </a:r>
          </a:p>
          <a:p>
            <a:endParaRPr lang="en-US" baseline="0" dirty="0" smtClean="0"/>
          </a:p>
          <a:p>
            <a:r>
              <a:rPr lang="en-US" baseline="0" dirty="0" smtClean="0"/>
              <a:t>In fact there is this paper that puts order in smell resolution that may </a:t>
            </a:r>
            <a:r>
              <a:rPr lang="en-US" baseline="0" smtClean="0"/>
              <a:t>be interesting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13</a:t>
            </a:fld>
            <a:endParaRPr lang="el-G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does this reduce size?? (in the intro of</a:t>
            </a:r>
            <a:r>
              <a:rPr lang="en-US" baseline="0" dirty="0" smtClean="0"/>
              <a:t> large class we had loc, </a:t>
            </a:r>
            <a:r>
              <a:rPr lang="en-US" b="1" baseline="0" dirty="0" smtClean="0"/>
              <a:t>nom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noa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19</a:t>
            </a:fld>
            <a:endParaRPr lang="el-G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Here can</a:t>
            </a:r>
            <a:r>
              <a:rPr lang="en-US" baseline="0" dirty="0" smtClean="0"/>
              <a:t> draw a combination of extract interface and progressive extract class to </a:t>
            </a:r>
            <a:r>
              <a:rPr lang="en-US" baseline="0" dirty="0" err="1" smtClean="0"/>
              <a:t>refactor</a:t>
            </a:r>
            <a:r>
              <a:rPr lang="en-US" baseline="0" dirty="0" smtClean="0"/>
              <a:t> a complicate legacy god class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20</a:t>
            </a:fld>
            <a:endParaRPr lang="el-G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in DIP we had many</a:t>
            </a:r>
            <a:r>
              <a:rPr lang="en-US" baseline="0" smtClean="0"/>
              <a:t> classes that played the same role. We used an </a:t>
            </a:r>
            <a:r>
              <a:rPr lang="en-US" baseline="0" err="1" smtClean="0"/>
              <a:t>iface</a:t>
            </a:r>
            <a:r>
              <a:rPr lang="en-US" baseline="0" smtClean="0"/>
              <a:t> to represent this role – this allow to easily change the role players classes </a:t>
            </a:r>
          </a:p>
          <a:p>
            <a:endParaRPr lang="en-US" baseline="0" smtClean="0"/>
          </a:p>
          <a:p>
            <a:r>
              <a:rPr lang="en-US" baseline="0" smtClean="0"/>
              <a:t>we may also have one class that can play many roles for different clients. In this case it is useful to use </a:t>
            </a:r>
            <a:r>
              <a:rPr lang="en-US" baseline="0" err="1" smtClean="0"/>
              <a:t>ifaces</a:t>
            </a:r>
            <a:r>
              <a:rPr lang="en-US" baseline="0" smtClean="0"/>
              <a:t> for the different roles. It isolates client classes that don’t relate with a role from role changes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21</a:t>
            </a:fld>
            <a:endParaRPr lang="el-G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in DIP we had many</a:t>
            </a:r>
            <a:r>
              <a:rPr lang="en-US" baseline="0" smtClean="0"/>
              <a:t> classes that played the same role. We used an </a:t>
            </a:r>
            <a:r>
              <a:rPr lang="en-US" baseline="0" err="1" smtClean="0"/>
              <a:t>iface</a:t>
            </a:r>
            <a:r>
              <a:rPr lang="en-US" baseline="0" smtClean="0"/>
              <a:t> to represent this role – this allow to easily change the role players classes </a:t>
            </a:r>
          </a:p>
          <a:p>
            <a:endParaRPr lang="en-US" baseline="0" smtClean="0"/>
          </a:p>
          <a:p>
            <a:r>
              <a:rPr lang="en-US" baseline="0" smtClean="0"/>
              <a:t>we may also have one class that can play many roles for different clients. In this case it is useful to use </a:t>
            </a:r>
            <a:r>
              <a:rPr lang="en-US" baseline="0" err="1" smtClean="0"/>
              <a:t>ifaces</a:t>
            </a:r>
            <a:r>
              <a:rPr lang="en-US" baseline="0" smtClean="0"/>
              <a:t> for the different roles. It isolates client classes that don’t relate with a role from role changes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22</a:t>
            </a:fld>
            <a:endParaRPr lang="el-G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in DIP we had many</a:t>
            </a:r>
            <a:r>
              <a:rPr lang="en-US" baseline="0" smtClean="0"/>
              <a:t> classes that played the same role. We used an </a:t>
            </a:r>
            <a:r>
              <a:rPr lang="en-US" baseline="0" err="1" smtClean="0"/>
              <a:t>iface</a:t>
            </a:r>
            <a:r>
              <a:rPr lang="en-US" baseline="0" smtClean="0"/>
              <a:t> to represent this role – this allow to easily change the role players classes </a:t>
            </a:r>
          </a:p>
          <a:p>
            <a:endParaRPr lang="en-US" baseline="0" smtClean="0"/>
          </a:p>
          <a:p>
            <a:r>
              <a:rPr lang="en-US" baseline="0" smtClean="0"/>
              <a:t>we may also have one class that can play many roles for different clients. In this case it is useful to use </a:t>
            </a:r>
            <a:r>
              <a:rPr lang="en-US" baseline="0" err="1" smtClean="0"/>
              <a:t>ifaces</a:t>
            </a:r>
            <a:r>
              <a:rPr lang="en-US" baseline="0" smtClean="0"/>
              <a:t> for the different roles. It isolates client classes that don’t relate with a role from role changes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23</a:t>
            </a:fld>
            <a:endParaRPr lang="el-G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in DIP we had many</a:t>
            </a:r>
            <a:r>
              <a:rPr lang="en-US" baseline="0" smtClean="0"/>
              <a:t> classes that played the same role. We used an </a:t>
            </a:r>
            <a:r>
              <a:rPr lang="en-US" baseline="0" err="1" smtClean="0"/>
              <a:t>iface</a:t>
            </a:r>
            <a:r>
              <a:rPr lang="en-US" baseline="0" smtClean="0"/>
              <a:t> to represent this role – this allow to easily change the role players classes </a:t>
            </a:r>
          </a:p>
          <a:p>
            <a:endParaRPr lang="en-US" baseline="0" smtClean="0"/>
          </a:p>
          <a:p>
            <a:r>
              <a:rPr lang="en-US" baseline="0" smtClean="0"/>
              <a:t>we may also have one class that can play many roles for different clients. In this case it is useful to use </a:t>
            </a:r>
            <a:r>
              <a:rPr lang="en-US" baseline="0" err="1" smtClean="0"/>
              <a:t>ifaces</a:t>
            </a:r>
            <a:r>
              <a:rPr lang="en-US" baseline="0" smtClean="0"/>
              <a:t> for the different roles. It isolates client classes that don’t relate with a role from role changes</a:t>
            </a:r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E72D8-DBAA-4DCF-87F7-0480A1282348}" type="slidenum">
              <a:rPr lang="el-GR" smtClean="0"/>
              <a:pPr/>
              <a:t>24</a:t>
            </a:fld>
            <a:endParaRPr lang="el-G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9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3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2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2" y="6467474"/>
            <a:ext cx="190849" cy="120315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cs.uoi.gr/~zarras/soft-devII.ht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noProof="0" smtClean="0"/>
              <a:t>Clean Classes</a:t>
            </a:r>
            <a:br>
              <a:rPr lang="en-US" noProof="0" smtClean="0"/>
            </a:br>
            <a:r>
              <a:rPr lang="en-US" sz="1800" noProof="0" smtClean="0">
                <a:hlinkClick r:id="rId2"/>
              </a:rPr>
              <a:t>www.cs.uoi.gr/~zarras/soft-devII.htm</a:t>
            </a:r>
            <a:r>
              <a:rPr lang="en-US" sz="1800" noProof="0" smtClean="0"/>
              <a:t>    </a:t>
            </a:r>
            <a:endParaRPr lang="en-US" sz="1800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noProof="0" smtClean="0"/>
              <a:t>from Clean Code by R. C. Martin, a.k.a “Uncle Bob”</a:t>
            </a:r>
            <a:endParaRPr lang="en-US" noProof="0"/>
          </a:p>
        </p:txBody>
      </p:sp>
      <p:pic>
        <p:nvPicPr>
          <p:cNvPr id="51202" name="Picture 2" descr="http://www.bonkersworld.net/images/2011.09.07_object_oriented_programmer_worl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228600"/>
            <a:ext cx="5127624" cy="332680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noProof="0" smtClean="0"/>
              <a:t>Class Organization </a:t>
            </a:r>
            <a:endParaRPr lang="en-US" noProof="0"/>
          </a:p>
        </p:txBody>
      </p:sp>
      <p:sp>
        <p:nvSpPr>
          <p:cNvPr id="4" name="Rectangle 3"/>
          <p:cNvSpPr/>
          <p:nvPr/>
        </p:nvSpPr>
        <p:spPr>
          <a:xfrm>
            <a:off x="762000" y="2133600"/>
            <a:ext cx="6477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Following the standard Java convention, a class should </a:t>
            </a:r>
            <a:r>
              <a:rPr lang="en-US" dirty="0" smtClean="0">
                <a:solidFill>
                  <a:srgbClr val="FF0000"/>
                </a:solidFill>
              </a:rPr>
              <a:t>begin</a:t>
            </a:r>
            <a:r>
              <a:rPr lang="en-US" dirty="0" smtClean="0"/>
              <a:t> with a list of </a:t>
            </a:r>
            <a:r>
              <a:rPr lang="en-US" dirty="0" smtClean="0">
                <a:solidFill>
                  <a:srgbClr val="FF0000"/>
                </a:solidFill>
              </a:rPr>
              <a:t>attributes</a:t>
            </a:r>
            <a:r>
              <a:rPr lang="en-US" dirty="0" smtClean="0"/>
              <a:t>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Public static constants</a:t>
            </a:r>
            <a:r>
              <a:rPr lang="en-US" dirty="0" smtClean="0"/>
              <a:t>, if any, should come </a:t>
            </a:r>
            <a:r>
              <a:rPr lang="en-US" dirty="0" smtClean="0">
                <a:solidFill>
                  <a:srgbClr val="FF0000"/>
                </a:solidFill>
              </a:rPr>
              <a:t>first</a:t>
            </a:r>
            <a:r>
              <a:rPr lang="en-US" dirty="0" smtClean="0"/>
              <a:t>. Then </a:t>
            </a:r>
            <a:r>
              <a:rPr lang="en-US" dirty="0" smtClean="0">
                <a:solidFill>
                  <a:srgbClr val="FF0000"/>
                </a:solidFill>
              </a:rPr>
              <a:t>private static attributes</a:t>
            </a:r>
            <a:r>
              <a:rPr lang="en-US" dirty="0" smtClean="0"/>
              <a:t>,  followed by </a:t>
            </a:r>
            <a:r>
              <a:rPr lang="en-US" dirty="0" smtClean="0">
                <a:solidFill>
                  <a:srgbClr val="FF0000"/>
                </a:solidFill>
              </a:rPr>
              <a:t>private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instance attributes</a:t>
            </a:r>
            <a:r>
              <a:rPr lang="en-US" dirty="0" smtClean="0"/>
              <a:t>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Public functions/methods </a:t>
            </a:r>
            <a:r>
              <a:rPr lang="en-US" dirty="0" smtClean="0"/>
              <a:t>should follow the list of attributes. We like to put the </a:t>
            </a:r>
            <a:r>
              <a:rPr lang="en-US" dirty="0" smtClean="0">
                <a:solidFill>
                  <a:srgbClr val="FF0000"/>
                </a:solidFill>
              </a:rPr>
              <a:t>private utilities </a:t>
            </a:r>
            <a:r>
              <a:rPr lang="en-US" dirty="0" smtClean="0"/>
              <a:t>called by a public function right after the public function itself. This follows the </a:t>
            </a:r>
            <a:r>
              <a:rPr lang="en-US" dirty="0" err="1" smtClean="0">
                <a:solidFill>
                  <a:srgbClr val="FF0000"/>
                </a:solidFill>
              </a:rPr>
              <a:t>stepdown</a:t>
            </a:r>
            <a:r>
              <a:rPr lang="en-US" dirty="0" smtClean="0">
                <a:solidFill>
                  <a:srgbClr val="FF0000"/>
                </a:solidFill>
              </a:rPr>
              <a:t> rule </a:t>
            </a:r>
            <a:r>
              <a:rPr lang="en-US" dirty="0" smtClean="0"/>
              <a:t>and helps the program read like a </a:t>
            </a:r>
            <a:r>
              <a:rPr lang="en-US" dirty="0" smtClean="0">
                <a:solidFill>
                  <a:srgbClr val="FF0000"/>
                </a:solidFill>
              </a:rPr>
              <a:t>newspaper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article</a:t>
            </a:r>
            <a:r>
              <a:rPr lang="en-US" dirty="0" smtClean="0"/>
              <a:t>.</a:t>
            </a:r>
            <a:endParaRPr lang="el-G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noProof="0" dirty="0" smtClean="0"/>
              <a:t>Encapsulation</a:t>
            </a:r>
            <a:endParaRPr lang="en-US" noProof="0" dirty="0"/>
          </a:p>
        </p:txBody>
      </p:sp>
      <p:sp>
        <p:nvSpPr>
          <p:cNvPr id="5" name="Rectangle 4"/>
          <p:cNvSpPr/>
          <p:nvPr/>
        </p:nvSpPr>
        <p:spPr>
          <a:xfrm>
            <a:off x="762000" y="2133600"/>
            <a:ext cx="6248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We like to keep our </a:t>
            </a:r>
            <a:r>
              <a:rPr lang="en-US" dirty="0" smtClean="0">
                <a:solidFill>
                  <a:srgbClr val="FF0000"/>
                </a:solidFill>
              </a:rPr>
              <a:t>attributes</a:t>
            </a:r>
            <a:r>
              <a:rPr lang="en-US" dirty="0" smtClean="0"/>
              <a:t> and utility functions/methods </a:t>
            </a:r>
            <a:r>
              <a:rPr lang="en-US" dirty="0" smtClean="0">
                <a:solidFill>
                  <a:srgbClr val="FF0000"/>
                </a:solidFill>
              </a:rPr>
              <a:t>private</a:t>
            </a:r>
            <a:r>
              <a:rPr lang="en-US" dirty="0" smtClean="0"/>
              <a:t>,  but we’re not fanatic about it.</a:t>
            </a:r>
          </a:p>
          <a:p>
            <a:endParaRPr lang="en-US" dirty="0" smtClean="0"/>
          </a:p>
          <a:p>
            <a:pPr algn="just"/>
            <a:r>
              <a:rPr lang="en-US" dirty="0" smtClean="0"/>
              <a:t>Sometimes we need to make an </a:t>
            </a:r>
            <a:r>
              <a:rPr lang="en-US" dirty="0" smtClean="0">
                <a:solidFill>
                  <a:srgbClr val="FF0000"/>
                </a:solidFill>
              </a:rPr>
              <a:t>attribute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FF0000"/>
                </a:solidFill>
              </a:rPr>
              <a:t>utility function/methods protected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There is </a:t>
            </a:r>
            <a:r>
              <a:rPr lang="en-US" dirty="0" smtClean="0">
                <a:solidFill>
                  <a:srgbClr val="FF0000"/>
                </a:solidFill>
              </a:rPr>
              <a:t>seldom</a:t>
            </a:r>
            <a:r>
              <a:rPr lang="en-US" dirty="0" smtClean="0"/>
              <a:t> a good </a:t>
            </a:r>
            <a:r>
              <a:rPr lang="en-US" dirty="0" smtClean="0">
                <a:solidFill>
                  <a:srgbClr val="FF0000"/>
                </a:solidFill>
              </a:rPr>
              <a:t>reason</a:t>
            </a:r>
            <a:r>
              <a:rPr lang="en-US" dirty="0" smtClean="0"/>
              <a:t> to have a </a:t>
            </a:r>
            <a:r>
              <a:rPr lang="en-US" dirty="0" smtClean="0">
                <a:solidFill>
                  <a:srgbClr val="FF0000"/>
                </a:solidFill>
              </a:rPr>
              <a:t>public attribute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!!!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noProof="0" dirty="0" smtClean="0"/>
              <a:t>Classes should be small!!</a:t>
            </a:r>
            <a:endParaRPr lang="en-US" noProof="0" dirty="0"/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109662"/>
            <a:ext cx="3498629" cy="574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114800" y="1676400"/>
            <a:ext cx="48768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With </a:t>
            </a:r>
            <a:r>
              <a:rPr lang="en-US" dirty="0" smtClean="0">
                <a:solidFill>
                  <a:srgbClr val="FF0000"/>
                </a:solidFill>
              </a:rPr>
              <a:t>functions</a:t>
            </a:r>
            <a:r>
              <a:rPr lang="en-US" dirty="0" smtClean="0"/>
              <a:t> we measured size by counting </a:t>
            </a:r>
            <a:r>
              <a:rPr lang="en-US" dirty="0" smtClean="0">
                <a:solidFill>
                  <a:srgbClr val="FF0000"/>
                </a:solidFill>
              </a:rPr>
              <a:t>physical lines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Listing 10-1 outlines a class, </a:t>
            </a:r>
            <a:r>
              <a:rPr lang="en-US" dirty="0" err="1" smtClean="0">
                <a:solidFill>
                  <a:srgbClr val="C00000"/>
                </a:solidFill>
              </a:rPr>
              <a:t>SuperDashboard</a:t>
            </a:r>
            <a:r>
              <a:rPr lang="en-US" dirty="0" smtClean="0"/>
              <a:t>, that exposes about </a:t>
            </a:r>
            <a:r>
              <a:rPr lang="en-US" dirty="0" smtClean="0">
                <a:solidFill>
                  <a:srgbClr val="FF0000"/>
                </a:solidFill>
              </a:rPr>
              <a:t>70 public methods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algn="just"/>
            <a:r>
              <a:rPr lang="en-US" dirty="0" smtClean="0"/>
              <a:t>Most developers would agree that it’s a bit too super in size. </a:t>
            </a:r>
          </a:p>
          <a:p>
            <a:endParaRPr lang="en-US" dirty="0" smtClean="0"/>
          </a:p>
          <a:p>
            <a:pPr algn="just"/>
            <a:r>
              <a:rPr lang="en-US" dirty="0" smtClean="0"/>
              <a:t>Some developers might refer to </a:t>
            </a:r>
            <a:r>
              <a:rPr lang="en-US" dirty="0" err="1" smtClean="0"/>
              <a:t>SuperDashboard</a:t>
            </a:r>
            <a:r>
              <a:rPr lang="en-US" dirty="0" smtClean="0"/>
              <a:t> as a </a:t>
            </a:r>
            <a:r>
              <a:rPr lang="en-US" dirty="0" smtClean="0">
                <a:solidFill>
                  <a:srgbClr val="FF0000"/>
                </a:solidFill>
              </a:rPr>
              <a:t>“God class”</a:t>
            </a:r>
            <a:endParaRPr lang="el-GR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noProof="0" smtClean="0"/>
              <a:t>Classes should be small!!</a:t>
            </a:r>
            <a:endParaRPr lang="en-US" noProof="0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676400"/>
            <a:ext cx="8504174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33400" y="4876800"/>
            <a:ext cx="6324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But what if </a:t>
            </a:r>
            <a:r>
              <a:rPr lang="en-US" b="1" dirty="0" err="1" smtClean="0">
                <a:solidFill>
                  <a:srgbClr val="FF0000"/>
                </a:solidFill>
              </a:rPr>
              <a:t>SuperDashboard</a:t>
            </a:r>
            <a:r>
              <a:rPr lang="en-US" b="1" dirty="0" smtClean="0">
                <a:solidFill>
                  <a:srgbClr val="FF0000"/>
                </a:solidFill>
              </a:rPr>
              <a:t> contained only 5 methods ?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Five methods isn’t too much, is it?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noProof="0" smtClean="0"/>
              <a:t>Classes should be small!!</a:t>
            </a:r>
            <a:endParaRPr lang="en-US" noProof="0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143000"/>
            <a:ext cx="6781800" cy="194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57200" y="3012281"/>
            <a:ext cx="81534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With </a:t>
            </a:r>
            <a:r>
              <a:rPr lang="en-US" b="1" dirty="0" smtClean="0">
                <a:solidFill>
                  <a:srgbClr val="FF0000"/>
                </a:solidFill>
              </a:rPr>
              <a:t>classes</a:t>
            </a:r>
            <a:r>
              <a:rPr lang="en-US" dirty="0" smtClean="0"/>
              <a:t> we use a different measure. We count </a:t>
            </a:r>
            <a:r>
              <a:rPr lang="en-US" b="1" i="1" dirty="0" smtClean="0">
                <a:solidFill>
                  <a:srgbClr val="FF0000"/>
                </a:solidFill>
              </a:rPr>
              <a:t>responsibilities</a:t>
            </a:r>
            <a:r>
              <a:rPr lang="en-US" i="1" dirty="0" smtClean="0"/>
              <a:t>.</a:t>
            </a:r>
          </a:p>
          <a:p>
            <a:endParaRPr lang="en-US" dirty="0" smtClean="0"/>
          </a:p>
          <a:p>
            <a:pPr algn="just"/>
            <a:r>
              <a:rPr lang="en-US" dirty="0" smtClean="0"/>
              <a:t>In this case the </a:t>
            </a:r>
            <a:r>
              <a:rPr lang="en-US" dirty="0" smtClean="0">
                <a:solidFill>
                  <a:srgbClr val="FF0000"/>
                </a:solidFill>
              </a:rPr>
              <a:t>class is NOT small</a:t>
            </a:r>
            <a:r>
              <a:rPr lang="en-US" dirty="0" smtClean="0"/>
              <a:t>, despite its small number of methods, </a:t>
            </a:r>
            <a:r>
              <a:rPr lang="en-US" dirty="0" err="1" smtClean="0"/>
              <a:t>SuperDashboard</a:t>
            </a:r>
            <a:r>
              <a:rPr lang="en-US" dirty="0" smtClean="0"/>
              <a:t> has too </a:t>
            </a:r>
            <a:r>
              <a:rPr lang="en-US" dirty="0" smtClean="0">
                <a:solidFill>
                  <a:srgbClr val="FF0000"/>
                </a:solidFill>
              </a:rPr>
              <a:t>many </a:t>
            </a:r>
            <a:r>
              <a:rPr lang="en-US" i="1" dirty="0" smtClean="0">
                <a:solidFill>
                  <a:srgbClr val="FF0000"/>
                </a:solidFill>
              </a:rPr>
              <a:t>responsibilities</a:t>
            </a:r>
            <a:r>
              <a:rPr lang="en-US" i="1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name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FF0000"/>
                </a:solidFill>
              </a:rPr>
              <a:t>class</a:t>
            </a:r>
            <a:r>
              <a:rPr lang="en-US" dirty="0" smtClean="0"/>
              <a:t> should describe what </a:t>
            </a:r>
            <a:r>
              <a:rPr lang="en-US" dirty="0" smtClean="0">
                <a:solidFill>
                  <a:srgbClr val="FF0000"/>
                </a:solidFill>
              </a:rPr>
              <a:t>responsibilities</a:t>
            </a:r>
            <a:r>
              <a:rPr lang="en-US" dirty="0" smtClean="0"/>
              <a:t> it fulfills. </a:t>
            </a:r>
          </a:p>
          <a:p>
            <a:endParaRPr lang="en-US" dirty="0" smtClean="0"/>
          </a:p>
          <a:p>
            <a:pPr algn="just"/>
            <a:r>
              <a:rPr lang="en-US" dirty="0" smtClean="0"/>
              <a:t>In fact, </a:t>
            </a:r>
            <a:r>
              <a:rPr lang="en-US" dirty="0" smtClean="0">
                <a:solidFill>
                  <a:srgbClr val="FF0000"/>
                </a:solidFill>
              </a:rPr>
              <a:t>naming</a:t>
            </a:r>
            <a:r>
              <a:rPr lang="en-US" dirty="0" smtClean="0"/>
              <a:t> is probably the </a:t>
            </a:r>
            <a:r>
              <a:rPr lang="en-US" dirty="0" smtClean="0">
                <a:solidFill>
                  <a:srgbClr val="FF0000"/>
                </a:solidFill>
              </a:rPr>
              <a:t>first way </a:t>
            </a:r>
            <a:r>
              <a:rPr lang="en-US" dirty="0" smtClean="0"/>
              <a:t>of helping determine class size. If we </a:t>
            </a:r>
            <a:r>
              <a:rPr lang="en-US" dirty="0" smtClean="0">
                <a:solidFill>
                  <a:srgbClr val="FF0000"/>
                </a:solidFill>
              </a:rPr>
              <a:t>cannot</a:t>
            </a:r>
            <a:r>
              <a:rPr lang="en-US" dirty="0" smtClean="0"/>
              <a:t> derive a </a:t>
            </a:r>
            <a:r>
              <a:rPr lang="en-US" dirty="0" smtClean="0">
                <a:solidFill>
                  <a:srgbClr val="FF0000"/>
                </a:solidFill>
              </a:rPr>
              <a:t>concise name </a:t>
            </a:r>
            <a:r>
              <a:rPr lang="en-US" dirty="0" smtClean="0"/>
              <a:t>for a class, then it’s likely </a:t>
            </a:r>
            <a:r>
              <a:rPr lang="en-US" dirty="0" smtClean="0">
                <a:solidFill>
                  <a:srgbClr val="FF0000"/>
                </a:solidFill>
              </a:rPr>
              <a:t>too large</a:t>
            </a:r>
            <a:r>
              <a:rPr lang="en-US" dirty="0" smtClean="0"/>
              <a:t>. The more </a:t>
            </a:r>
            <a:r>
              <a:rPr lang="en-US" dirty="0" smtClean="0">
                <a:solidFill>
                  <a:srgbClr val="FF0000"/>
                </a:solidFill>
              </a:rPr>
              <a:t>ambiguous</a:t>
            </a:r>
            <a:r>
              <a:rPr lang="en-US" dirty="0" smtClean="0"/>
              <a:t> the class name, the more likely it has too </a:t>
            </a:r>
            <a:r>
              <a:rPr lang="en-US" dirty="0" smtClean="0">
                <a:solidFill>
                  <a:srgbClr val="FF0000"/>
                </a:solidFill>
              </a:rPr>
              <a:t>many responsibilities</a:t>
            </a:r>
            <a:r>
              <a:rPr lang="en-US" dirty="0" smtClean="0"/>
              <a:t>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For example, class names including weasel words like </a:t>
            </a:r>
            <a:r>
              <a:rPr lang="en-US" dirty="0" smtClean="0">
                <a:solidFill>
                  <a:srgbClr val="FF0000"/>
                </a:solidFill>
              </a:rPr>
              <a:t>Processor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FF0000"/>
                </a:solidFill>
              </a:rPr>
              <a:t>Manager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FF0000"/>
                </a:solidFill>
              </a:rPr>
              <a:t>Super</a:t>
            </a:r>
            <a:r>
              <a:rPr lang="en-US" dirty="0" smtClean="0"/>
              <a:t> often hint at </a:t>
            </a:r>
            <a:r>
              <a:rPr lang="en-US" dirty="0" smtClean="0">
                <a:solidFill>
                  <a:srgbClr val="FF0000"/>
                </a:solidFill>
              </a:rPr>
              <a:t>unfortunate aggregation of </a:t>
            </a:r>
            <a:r>
              <a:rPr lang="fr-FR" dirty="0" err="1" smtClean="0">
                <a:solidFill>
                  <a:srgbClr val="FF0000"/>
                </a:solidFill>
              </a:rPr>
              <a:t>responsibilities</a:t>
            </a:r>
            <a:r>
              <a:rPr lang="fr-FR" dirty="0" smtClean="0"/>
              <a:t>.</a:t>
            </a:r>
            <a:endParaRPr lang="el-G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noProof="0" smtClean="0"/>
              <a:t>Classes should be small!!</a:t>
            </a:r>
            <a:endParaRPr lang="en-US" noProof="0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219200"/>
            <a:ext cx="823841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533400" y="3962400"/>
            <a:ext cx="73914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We should also be able to write a </a:t>
            </a:r>
            <a:r>
              <a:rPr lang="en-US" dirty="0" smtClean="0">
                <a:solidFill>
                  <a:srgbClr val="FF0000"/>
                </a:solidFill>
              </a:rPr>
              <a:t>brief description </a:t>
            </a:r>
            <a:r>
              <a:rPr lang="en-US" dirty="0" smtClean="0"/>
              <a:t>of the class in about </a:t>
            </a:r>
            <a:r>
              <a:rPr lang="en-US" dirty="0" smtClean="0">
                <a:solidFill>
                  <a:srgbClr val="FF0000"/>
                </a:solidFill>
              </a:rPr>
              <a:t>25 words</a:t>
            </a:r>
            <a:r>
              <a:rPr lang="en-US" dirty="0" smtClean="0"/>
              <a:t>, without using the words </a:t>
            </a:r>
            <a:r>
              <a:rPr lang="en-US" dirty="0" smtClean="0">
                <a:solidFill>
                  <a:srgbClr val="FF0000"/>
                </a:solidFill>
              </a:rPr>
              <a:t>“if,” “and,” “or,” or “but.” </a:t>
            </a:r>
          </a:p>
          <a:p>
            <a:endParaRPr lang="en-US" dirty="0" smtClean="0"/>
          </a:p>
          <a:p>
            <a:r>
              <a:rPr lang="en-US" dirty="0" smtClean="0"/>
              <a:t>How would we describe the </a:t>
            </a:r>
            <a:r>
              <a:rPr lang="en-US" dirty="0" err="1" smtClean="0"/>
              <a:t>SuperDashboard</a:t>
            </a:r>
            <a:r>
              <a:rPr lang="en-US" dirty="0" smtClean="0"/>
              <a:t>? </a:t>
            </a:r>
          </a:p>
          <a:p>
            <a:endParaRPr lang="en-US" dirty="0" smtClean="0"/>
          </a:p>
          <a:p>
            <a:r>
              <a:rPr lang="en-US" dirty="0" smtClean="0"/>
              <a:t>“The </a:t>
            </a:r>
            <a:r>
              <a:rPr lang="en-US" dirty="0" err="1" smtClean="0"/>
              <a:t>SuperDashboard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provides access to the GUI component </a:t>
            </a:r>
            <a:r>
              <a:rPr lang="en-US" dirty="0" smtClean="0"/>
              <a:t>that last held the focus,  </a:t>
            </a:r>
            <a:r>
              <a:rPr lang="en-US" dirty="0" smtClean="0">
                <a:solidFill>
                  <a:srgbClr val="FF0000"/>
                </a:solidFill>
              </a:rPr>
              <a:t>and</a:t>
            </a:r>
            <a:r>
              <a:rPr lang="en-US" dirty="0" smtClean="0"/>
              <a:t> it also allows us </a:t>
            </a:r>
            <a:r>
              <a:rPr lang="en-US" dirty="0" smtClean="0">
                <a:solidFill>
                  <a:srgbClr val="C00000"/>
                </a:solidFill>
              </a:rPr>
              <a:t>to track the version and build numbers</a:t>
            </a:r>
            <a:r>
              <a:rPr lang="en-US" dirty="0" smtClean="0"/>
              <a:t>.”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 first “and” is a hint that </a:t>
            </a:r>
            <a:r>
              <a:rPr lang="en-US" dirty="0" err="1" smtClean="0"/>
              <a:t>SuperDashboard</a:t>
            </a:r>
            <a:r>
              <a:rPr lang="en-US" dirty="0" smtClean="0"/>
              <a:t> has too many responsibilities.</a:t>
            </a:r>
            <a:endParaRPr lang="el-G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noProof="0" smtClean="0"/>
              <a:t>Classes should be small!!</a:t>
            </a:r>
            <a:endParaRPr lang="en-US" noProof="0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447800"/>
            <a:ext cx="823841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533400" y="4572000"/>
            <a:ext cx="7391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Is there any well known </a:t>
            </a:r>
            <a:r>
              <a:rPr lang="en-US" b="1" u="sng" dirty="0" smtClean="0">
                <a:solidFill>
                  <a:srgbClr val="FF0000"/>
                </a:solidFill>
              </a:rPr>
              <a:t>principle</a:t>
            </a:r>
            <a:r>
              <a:rPr lang="en-US" b="1" dirty="0" smtClean="0">
                <a:solidFill>
                  <a:srgbClr val="FF0000"/>
                </a:solidFill>
              </a:rPr>
              <a:t> that promotes </a:t>
            </a:r>
            <a:r>
              <a:rPr lang="en-US" b="1" u="sng" dirty="0" smtClean="0">
                <a:solidFill>
                  <a:srgbClr val="FF0000"/>
                </a:solidFill>
              </a:rPr>
              <a:t>small classes </a:t>
            </a:r>
            <a:r>
              <a:rPr lang="en-US" b="1" dirty="0" smtClean="0">
                <a:solidFill>
                  <a:srgbClr val="FF0000"/>
                </a:solidFill>
              </a:rPr>
              <a:t>??? </a:t>
            </a:r>
            <a:endParaRPr lang="el-G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noProof="0" dirty="0" smtClean="0"/>
              <a:t>The Single Responsibility Principle</a:t>
            </a:r>
            <a:endParaRPr lang="en-US" noProof="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00200"/>
            <a:ext cx="823841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533400" y="4724400"/>
            <a:ext cx="708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This principle gives us both a definition of responsibility, and a guideline for class size. 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Classes should have one responsibility—one reason to </a:t>
            </a:r>
            <a:r>
              <a:rPr lang="fr-FR" b="1" dirty="0" smtClean="0">
                <a:solidFill>
                  <a:srgbClr val="C00000"/>
                </a:solidFill>
              </a:rPr>
              <a:t>change !!</a:t>
            </a:r>
            <a:endParaRPr lang="el-GR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8200" cy="914400"/>
          </a:xfrm>
        </p:spPr>
        <p:txBody>
          <a:bodyPr>
            <a:normAutofit/>
          </a:bodyPr>
          <a:lstStyle/>
          <a:p>
            <a:r>
              <a:rPr lang="en-US" noProof="0" smtClean="0"/>
              <a:t>The Single Responsibility Principle</a:t>
            </a:r>
            <a:endParaRPr lang="en-US" noProof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295400"/>
            <a:ext cx="823841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533400" y="4038600"/>
            <a:ext cx="6934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seemingly small </a:t>
            </a:r>
            <a:r>
              <a:rPr lang="en-US" dirty="0" err="1" smtClean="0"/>
              <a:t>SuperDashboard</a:t>
            </a:r>
            <a:r>
              <a:rPr lang="en-US" dirty="0" smtClean="0"/>
              <a:t> class has two reasons to change.</a:t>
            </a:r>
          </a:p>
          <a:p>
            <a:endParaRPr lang="en-US" dirty="0" smtClean="0"/>
          </a:p>
          <a:p>
            <a:pPr algn="just"/>
            <a:r>
              <a:rPr lang="en-US" dirty="0" smtClean="0"/>
              <a:t>First, it </a:t>
            </a:r>
            <a:r>
              <a:rPr lang="en-US" dirty="0" smtClean="0">
                <a:solidFill>
                  <a:srgbClr val="FF0000"/>
                </a:solidFill>
              </a:rPr>
              <a:t>tracks version information </a:t>
            </a:r>
            <a:r>
              <a:rPr lang="en-US" dirty="0" smtClean="0"/>
              <a:t>that would seemingly need to be updated every time the software gets shipped. </a:t>
            </a:r>
          </a:p>
          <a:p>
            <a:endParaRPr lang="en-US" dirty="0" smtClean="0"/>
          </a:p>
          <a:p>
            <a:r>
              <a:rPr lang="en-US" dirty="0" smtClean="0"/>
              <a:t>Second, it </a:t>
            </a:r>
            <a:r>
              <a:rPr lang="en-US" dirty="0" smtClean="0">
                <a:solidFill>
                  <a:srgbClr val="FF0000"/>
                </a:solidFill>
              </a:rPr>
              <a:t>manages Java Swing components </a:t>
            </a:r>
            <a:r>
              <a:rPr lang="en-US" dirty="0" smtClean="0"/>
              <a:t>(it is a derivative of </a:t>
            </a:r>
            <a:r>
              <a:rPr lang="en-US" dirty="0" err="1" smtClean="0"/>
              <a:t>JFrame</a:t>
            </a:r>
            <a:r>
              <a:rPr lang="en-US" dirty="0" smtClean="0"/>
              <a:t>, the Swing representation of a top-level GUI window).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Smells and related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refactorings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https://refactoring.com/catalog/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26" name="Picture 2" descr="https://martinfowler.com/books/refact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05600" y="762000"/>
            <a:ext cx="1516225" cy="1981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Large Class</a:t>
            </a:r>
            <a:endParaRPr lang="el-GR" dirty="0" smtClean="0"/>
          </a:p>
        </p:txBody>
      </p:sp>
      <p:sp>
        <p:nvSpPr>
          <p:cNvPr id="5" name="Rectangle 4"/>
          <p:cNvSpPr/>
          <p:nvPr/>
        </p:nvSpPr>
        <p:spPr>
          <a:xfrm>
            <a:off x="609600" y="1524000"/>
            <a:ext cx="7848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Symptoms</a:t>
            </a:r>
          </a:p>
          <a:p>
            <a:endParaRPr lang="en-US" b="1" dirty="0" smtClean="0">
              <a:solidFill>
                <a:srgbClr val="0070C0"/>
              </a:solidFill>
            </a:endParaRPr>
          </a:p>
          <a:p>
            <a:r>
              <a:rPr lang="en-US" dirty="0" smtClean="0"/>
              <a:t>Large number of </a:t>
            </a:r>
            <a:r>
              <a:rPr lang="en-US" dirty="0" smtClean="0">
                <a:solidFill>
                  <a:srgbClr val="FF0000"/>
                </a:solidFill>
              </a:rPr>
              <a:t>instance variables</a:t>
            </a:r>
          </a:p>
          <a:p>
            <a:r>
              <a:rPr lang="en-US" dirty="0" smtClean="0"/>
              <a:t>Large number of </a:t>
            </a:r>
            <a:r>
              <a:rPr lang="en-US" dirty="0" smtClean="0">
                <a:solidFill>
                  <a:srgbClr val="FF0000"/>
                </a:solidFill>
              </a:rPr>
              <a:t>methods</a:t>
            </a:r>
          </a:p>
          <a:p>
            <a:r>
              <a:rPr lang="en-US" dirty="0" smtClean="0"/>
              <a:t>Large number of </a:t>
            </a:r>
            <a:r>
              <a:rPr lang="en-US" dirty="0" smtClean="0">
                <a:solidFill>
                  <a:srgbClr val="FF0000"/>
                </a:solidFill>
              </a:rPr>
              <a:t>lines</a:t>
            </a:r>
          </a:p>
          <a:p>
            <a:r>
              <a:rPr lang="en-US" dirty="0" smtClean="0"/>
              <a:t>Very </a:t>
            </a:r>
            <a:r>
              <a:rPr lang="en-US" dirty="0" smtClean="0">
                <a:solidFill>
                  <a:srgbClr val="FF0000"/>
                </a:solidFill>
              </a:rPr>
              <a:t>general name </a:t>
            </a:r>
          </a:p>
          <a:p>
            <a:endParaRPr lang="en-US" b="1" dirty="0" smtClean="0">
              <a:solidFill>
                <a:srgbClr val="0070C0"/>
              </a:solidFill>
            </a:endParaRPr>
          </a:p>
          <a:p>
            <a:r>
              <a:rPr lang="en-US" b="1" u="sng" dirty="0" smtClean="0">
                <a:solidFill>
                  <a:srgbClr val="0070C0"/>
                </a:solidFill>
              </a:rPr>
              <a:t>Causes</a:t>
            </a:r>
          </a:p>
          <a:p>
            <a:endParaRPr lang="en-US" b="1" dirty="0" smtClean="0">
              <a:solidFill>
                <a:srgbClr val="0070C0"/>
              </a:solidFill>
            </a:endParaRPr>
          </a:p>
          <a:p>
            <a:pPr algn="just"/>
            <a:r>
              <a:rPr lang="en-US" dirty="0" smtClean="0"/>
              <a:t>A little bit at a time. The author adds </a:t>
            </a:r>
            <a:r>
              <a:rPr lang="en-US" dirty="0" smtClean="0">
                <a:solidFill>
                  <a:srgbClr val="FF0000"/>
                </a:solidFill>
              </a:rPr>
              <a:t>“one more capability” </a:t>
            </a:r>
            <a:r>
              <a:rPr lang="en-US" dirty="0" smtClean="0"/>
              <a:t>to a class, and eventually it grows too big. </a:t>
            </a:r>
          </a:p>
          <a:p>
            <a:endParaRPr lang="en-US" dirty="0" smtClean="0"/>
          </a:p>
          <a:p>
            <a:pPr algn="just"/>
            <a:r>
              <a:rPr lang="en-US" dirty="0" smtClean="0"/>
              <a:t>Sometimes the problem is a lack of insight into the parts that make up the whole class. </a:t>
            </a:r>
          </a:p>
          <a:p>
            <a:endParaRPr lang="en-US" dirty="0" smtClean="0"/>
          </a:p>
          <a:p>
            <a:pPr algn="just"/>
            <a:r>
              <a:rPr lang="en-US" dirty="0" smtClean="0"/>
              <a:t>In any case, the class represents </a:t>
            </a:r>
            <a:r>
              <a:rPr lang="en-US" dirty="0" smtClean="0">
                <a:solidFill>
                  <a:srgbClr val="FF0000"/>
                </a:solidFill>
              </a:rPr>
              <a:t>too many responsibilities</a:t>
            </a:r>
            <a:r>
              <a:rPr lang="en-US" dirty="0" smtClean="0"/>
              <a:t> folded into one object.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Large Class</a:t>
            </a:r>
            <a:endParaRPr lang="el-GR" dirty="0" smtClean="0"/>
          </a:p>
        </p:txBody>
      </p:sp>
      <p:sp>
        <p:nvSpPr>
          <p:cNvPr id="5" name="Rectangle 4"/>
          <p:cNvSpPr/>
          <p:nvPr/>
        </p:nvSpPr>
        <p:spPr>
          <a:xfrm>
            <a:off x="609600" y="1543883"/>
            <a:ext cx="7848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What to Do</a:t>
            </a:r>
          </a:p>
          <a:p>
            <a:endParaRPr lang="en-US" b="1" dirty="0" smtClean="0"/>
          </a:p>
          <a:p>
            <a:r>
              <a:rPr lang="en-US" dirty="0" smtClean="0"/>
              <a:t>In general, you’re trying to break up the class. 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*** If the class has Long Methods, address that smell first. </a:t>
            </a:r>
          </a:p>
          <a:p>
            <a:endParaRPr lang="en-US" i="1" dirty="0" smtClean="0"/>
          </a:p>
          <a:p>
            <a:pPr algn="just"/>
            <a:r>
              <a:rPr lang="en-US" b="1" i="1" dirty="0" smtClean="0">
                <a:solidFill>
                  <a:srgbClr val="0070C0"/>
                </a:solidFill>
              </a:rPr>
              <a:t>Extract Class</a:t>
            </a:r>
            <a:r>
              <a:rPr lang="en-US" i="1" dirty="0" smtClean="0"/>
              <a:t>, if you can identify a new object that has part of this class’s </a:t>
            </a:r>
            <a:r>
              <a:rPr lang="en-US" dirty="0" smtClean="0"/>
              <a:t>responsibilities</a:t>
            </a:r>
            <a:endParaRPr lang="en-US" i="1" dirty="0" smtClean="0"/>
          </a:p>
          <a:p>
            <a:endParaRPr lang="en-US" i="1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 </a:t>
            </a:r>
          </a:p>
          <a:p>
            <a:endParaRPr lang="en-US" b="1" dirty="0" smtClean="0">
              <a:solidFill>
                <a:srgbClr val="0070C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 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 Class</a:t>
            </a:r>
            <a:endParaRPr lang="el-GR" dirty="0" smtClean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219199"/>
            <a:ext cx="6553200" cy="5299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 Class</a:t>
            </a:r>
            <a:endParaRPr lang="el-GR" dirty="0" smtClean="0"/>
          </a:p>
        </p:txBody>
      </p:sp>
      <p:sp>
        <p:nvSpPr>
          <p:cNvPr id="4" name="Rectangle 3"/>
          <p:cNvSpPr/>
          <p:nvPr/>
        </p:nvSpPr>
        <p:spPr>
          <a:xfrm>
            <a:off x="381000" y="1287482"/>
            <a:ext cx="8001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 smtClean="0"/>
              <a:t>In practice, </a:t>
            </a:r>
            <a:r>
              <a:rPr lang="en-US" b="1" u="sng" dirty="0" smtClean="0">
                <a:solidFill>
                  <a:srgbClr val="FF0000"/>
                </a:solidFill>
              </a:rPr>
              <a:t>classes grow</a:t>
            </a:r>
            <a:r>
              <a:rPr lang="en-US" b="1" u="sng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You add some operations here, a bit of data there. You add a responsibility to a class feeling that it's not worth a separate class, but as that responsibility grows and breeds, the </a:t>
            </a:r>
            <a:r>
              <a:rPr lang="en-US" b="1" u="sng" dirty="0" smtClean="0">
                <a:solidFill>
                  <a:srgbClr val="FF0000"/>
                </a:solidFill>
              </a:rPr>
              <a:t>class becomes too complicated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Such a class is one with </a:t>
            </a:r>
            <a:r>
              <a:rPr lang="en-US" dirty="0" smtClean="0">
                <a:solidFill>
                  <a:srgbClr val="FF0000"/>
                </a:solidFill>
              </a:rPr>
              <a:t>many methods </a:t>
            </a:r>
            <a:r>
              <a:rPr lang="en-US" dirty="0" smtClean="0"/>
              <a:t>and quite a </a:t>
            </a:r>
            <a:r>
              <a:rPr lang="en-US" dirty="0" smtClean="0">
                <a:solidFill>
                  <a:srgbClr val="FF0000"/>
                </a:solidFill>
              </a:rPr>
              <a:t>lot of data</a:t>
            </a:r>
            <a:r>
              <a:rPr lang="en-US" dirty="0" smtClean="0"/>
              <a:t>. A class that is too big to understand easily. 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You need to consider where it can be split, and you split it. </a:t>
            </a:r>
          </a:p>
          <a:p>
            <a:endParaRPr lang="en-US" b="1" dirty="0" smtClean="0">
              <a:solidFill>
                <a:srgbClr val="0070C0"/>
              </a:solidFill>
            </a:endParaRPr>
          </a:p>
          <a:p>
            <a:r>
              <a:rPr lang="en-US" dirty="0" smtClean="0"/>
              <a:t>A good sign is that </a:t>
            </a:r>
            <a:r>
              <a:rPr lang="en-US" b="1" u="sng" dirty="0" smtClean="0"/>
              <a:t>a subset of the data and a subset of the methods seem to </a:t>
            </a:r>
            <a:r>
              <a:rPr lang="en-US" b="1" u="sng" dirty="0" smtClean="0">
                <a:solidFill>
                  <a:srgbClr val="FF0000"/>
                </a:solidFill>
              </a:rPr>
              <a:t>go together</a:t>
            </a:r>
            <a:r>
              <a:rPr lang="en-US" dirty="0" smtClean="0"/>
              <a:t>. Other good signs are subsets of data that usually </a:t>
            </a:r>
            <a:r>
              <a:rPr lang="en-US" b="1" u="sng" dirty="0" smtClean="0">
                <a:solidFill>
                  <a:srgbClr val="FF0000"/>
                </a:solidFill>
              </a:rPr>
              <a:t>change together </a:t>
            </a:r>
            <a:r>
              <a:rPr lang="en-US" dirty="0" smtClean="0"/>
              <a:t>or are particularly dependent on each other. 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Large Class</a:t>
            </a:r>
            <a:endParaRPr lang="el-GR" dirty="0" smtClean="0"/>
          </a:p>
        </p:txBody>
      </p:sp>
      <p:sp>
        <p:nvSpPr>
          <p:cNvPr id="5" name="Rectangle 4"/>
          <p:cNvSpPr/>
          <p:nvPr/>
        </p:nvSpPr>
        <p:spPr>
          <a:xfrm>
            <a:off x="609600" y="1543883"/>
            <a:ext cx="7848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What to Do</a:t>
            </a:r>
          </a:p>
          <a:p>
            <a:endParaRPr lang="en-US" b="1" dirty="0" smtClean="0"/>
          </a:p>
          <a:p>
            <a:r>
              <a:rPr lang="en-US" dirty="0" smtClean="0"/>
              <a:t>In general, you’re trying to break up the class. 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If the class has Long Methods, address that smell first. </a:t>
            </a:r>
          </a:p>
          <a:p>
            <a:endParaRPr lang="en-US" dirty="0" smtClean="0"/>
          </a:p>
          <a:p>
            <a:pPr algn="just"/>
            <a:r>
              <a:rPr lang="en-US" b="1" i="1" dirty="0" smtClean="0">
                <a:solidFill>
                  <a:srgbClr val="0070C0"/>
                </a:solidFill>
              </a:rPr>
              <a:t>Extract Subclass</a:t>
            </a:r>
            <a:r>
              <a:rPr lang="en-US" i="1" dirty="0" smtClean="0"/>
              <a:t>, if you can divide responsibilities between the class and a new </a:t>
            </a:r>
            <a:r>
              <a:rPr lang="en-US" dirty="0" smtClean="0"/>
              <a:t>subclass</a:t>
            </a:r>
            <a:endParaRPr lang="en-US" i="1" dirty="0" smtClean="0"/>
          </a:p>
          <a:p>
            <a:endParaRPr lang="en-US" i="1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 </a:t>
            </a:r>
          </a:p>
          <a:p>
            <a:endParaRPr lang="en-US" b="1" dirty="0" smtClean="0">
              <a:solidFill>
                <a:srgbClr val="0070C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 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 Subclass</a:t>
            </a:r>
            <a:endParaRPr lang="el-GR" dirty="0" smtClean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420903"/>
            <a:ext cx="6424613" cy="4751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Large Class</a:t>
            </a:r>
            <a:endParaRPr lang="el-GR" dirty="0" smtClean="0"/>
          </a:p>
        </p:txBody>
      </p:sp>
      <p:sp>
        <p:nvSpPr>
          <p:cNvPr id="5" name="Rectangle 4"/>
          <p:cNvSpPr/>
          <p:nvPr/>
        </p:nvSpPr>
        <p:spPr>
          <a:xfrm>
            <a:off x="609600" y="1543883"/>
            <a:ext cx="78486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What to Do</a:t>
            </a:r>
          </a:p>
          <a:p>
            <a:endParaRPr lang="en-US" b="1" dirty="0" smtClean="0"/>
          </a:p>
          <a:p>
            <a:r>
              <a:rPr lang="en-US" b="1" i="1" dirty="0" smtClean="0">
                <a:solidFill>
                  <a:srgbClr val="0070C0"/>
                </a:solidFill>
              </a:rPr>
              <a:t>Extract Interface</a:t>
            </a:r>
            <a:r>
              <a:rPr lang="en-US" i="1" dirty="0" smtClean="0"/>
              <a:t>, </a:t>
            </a:r>
          </a:p>
          <a:p>
            <a:r>
              <a:rPr lang="en-US" i="1" dirty="0" smtClean="0"/>
              <a:t>you can identify </a:t>
            </a:r>
            <a:r>
              <a:rPr lang="en-US" b="1" i="1" dirty="0" smtClean="0"/>
              <a:t>subsets of features that clients use </a:t>
            </a:r>
          </a:p>
          <a:p>
            <a:endParaRPr lang="en-US" b="1" i="1" dirty="0" smtClean="0"/>
          </a:p>
          <a:p>
            <a:r>
              <a:rPr lang="en-US" b="1" i="1" dirty="0" smtClean="0"/>
              <a:t>you have no time to extract class or</a:t>
            </a:r>
          </a:p>
          <a:p>
            <a:endParaRPr lang="en-US" b="1" i="1" dirty="0" smtClean="0"/>
          </a:p>
          <a:p>
            <a:r>
              <a:rPr lang="en-US" b="1" i="1" dirty="0" smtClean="0"/>
              <a:t>it is very complex to extract class or</a:t>
            </a:r>
            <a:endParaRPr lang="en-US" i="1" dirty="0" smtClean="0"/>
          </a:p>
          <a:p>
            <a:endParaRPr lang="en-US" i="1" dirty="0" smtClean="0"/>
          </a:p>
          <a:p>
            <a:r>
              <a:rPr lang="en-US" b="1" i="1" dirty="0" smtClean="0"/>
              <a:t>It does not make sense to extract class because it is cohesive</a:t>
            </a:r>
          </a:p>
          <a:p>
            <a:endParaRPr lang="en-US" i="1" dirty="0" smtClean="0"/>
          </a:p>
          <a:p>
            <a:endParaRPr lang="en-US" b="1" dirty="0" smtClean="0">
              <a:solidFill>
                <a:srgbClr val="0070C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 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Extract Interface	</a:t>
            </a:r>
            <a:endParaRPr lang="el-GR" smtClean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5864" y="1362571"/>
            <a:ext cx="6955135" cy="4809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 Interface	</a:t>
            </a:r>
            <a:endParaRPr lang="el-GR" dirty="0" smtClean="0"/>
          </a:p>
        </p:txBody>
      </p:sp>
      <p:sp>
        <p:nvSpPr>
          <p:cNvPr id="5" name="Rectangle 4"/>
          <p:cNvSpPr/>
          <p:nvPr/>
        </p:nvSpPr>
        <p:spPr>
          <a:xfrm>
            <a:off x="762000" y="1524000"/>
            <a:ext cx="7239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Classes use each other in several ways. </a:t>
            </a:r>
          </a:p>
          <a:p>
            <a:endParaRPr lang="en-US" dirty="0" smtClean="0"/>
          </a:p>
          <a:p>
            <a:r>
              <a:rPr lang="en-US" dirty="0" smtClean="0"/>
              <a:t>Use of a class often means ranging over the </a:t>
            </a:r>
            <a:r>
              <a:rPr lang="en-US" dirty="0" smtClean="0">
                <a:solidFill>
                  <a:srgbClr val="FF0000"/>
                </a:solidFill>
              </a:rPr>
              <a:t>whole area of responsibilities </a:t>
            </a:r>
            <a:r>
              <a:rPr lang="en-US" dirty="0" smtClean="0"/>
              <a:t>of a class. </a:t>
            </a:r>
          </a:p>
          <a:p>
            <a:endParaRPr lang="en-US" dirty="0" smtClean="0"/>
          </a:p>
          <a:p>
            <a:r>
              <a:rPr lang="en-US" dirty="0" smtClean="0"/>
              <a:t>Another case is use of </a:t>
            </a:r>
            <a:r>
              <a:rPr lang="en-US" b="1" u="sng" dirty="0" smtClean="0"/>
              <a:t>only </a:t>
            </a:r>
            <a:r>
              <a:rPr lang="en-US" b="1" u="sng" dirty="0" smtClean="0">
                <a:solidFill>
                  <a:srgbClr val="FF0000"/>
                </a:solidFill>
              </a:rPr>
              <a:t>a particular subset of a class's responsibilities </a:t>
            </a:r>
            <a:r>
              <a:rPr lang="en-US" b="1" u="sng" dirty="0" smtClean="0"/>
              <a:t>by a group of clients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For the second case it is often useful to define an interface for </a:t>
            </a:r>
            <a:r>
              <a:rPr lang="en-US" dirty="0" smtClean="0">
                <a:solidFill>
                  <a:srgbClr val="FF0000"/>
                </a:solidFill>
              </a:rPr>
              <a:t>the subset of responsibilities. </a:t>
            </a:r>
          </a:p>
          <a:p>
            <a:endParaRPr lang="en-US" dirty="0" smtClean="0"/>
          </a:p>
          <a:p>
            <a:r>
              <a:rPr lang="en-US" dirty="0" smtClean="0"/>
              <a:t>That way it is easier to </a:t>
            </a:r>
            <a:r>
              <a:rPr lang="en-US" b="1" u="sng" dirty="0" smtClean="0"/>
              <a:t>see </a:t>
            </a:r>
            <a:r>
              <a:rPr lang="en-US" b="1" u="sng" dirty="0" smtClean="0">
                <a:solidFill>
                  <a:srgbClr val="FF0000"/>
                </a:solidFill>
              </a:rPr>
              <a:t>how</a:t>
            </a:r>
            <a:r>
              <a:rPr lang="en-US" b="1" u="sng" dirty="0" smtClean="0"/>
              <a:t> the </a:t>
            </a:r>
            <a:r>
              <a:rPr lang="en-US" b="1" u="sng" dirty="0" smtClean="0">
                <a:solidFill>
                  <a:srgbClr val="FF0000"/>
                </a:solidFill>
              </a:rPr>
              <a:t>responsibilities</a:t>
            </a:r>
            <a:r>
              <a:rPr lang="en-US" b="1" u="sng" dirty="0" smtClean="0"/>
              <a:t> of a class </a:t>
            </a:r>
            <a:r>
              <a:rPr lang="en-US" b="1" u="sng" dirty="0" smtClean="0">
                <a:solidFill>
                  <a:srgbClr val="FF0000"/>
                </a:solidFill>
              </a:rPr>
              <a:t>divide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wrt</a:t>
            </a:r>
            <a:r>
              <a:rPr lang="en-US" b="1" u="sng" dirty="0" smtClean="0"/>
              <a:t> how they are </a:t>
            </a:r>
            <a:r>
              <a:rPr lang="en-US" b="1" u="sng" dirty="0" smtClean="0">
                <a:solidFill>
                  <a:srgbClr val="FF0000"/>
                </a:solidFill>
              </a:rPr>
              <a:t>used</a:t>
            </a:r>
            <a:r>
              <a:rPr lang="en-US" b="1" u="sng" dirty="0" smtClean="0"/>
              <a:t> by other classes and the </a:t>
            </a:r>
            <a:r>
              <a:rPr lang="en-US" b="1" u="sng" dirty="0" smtClean="0">
                <a:solidFill>
                  <a:srgbClr val="FF0000"/>
                </a:solidFill>
              </a:rPr>
              <a:t>different roles </a:t>
            </a:r>
            <a:r>
              <a:rPr lang="en-US" b="1" u="sng" dirty="0" smtClean="0"/>
              <a:t>played by the class </a:t>
            </a:r>
            <a:endParaRPr lang="el-GR" b="1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 Interface	</a:t>
            </a:r>
            <a:endParaRPr lang="en-US" noProof="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1828800"/>
            <a:ext cx="5225219" cy="32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257800" y="3276600"/>
            <a:ext cx="3657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Changes to any method affect both </a:t>
            </a:r>
            <a:r>
              <a:rPr lang="en-US" b="1" dirty="0" err="1" smtClean="0">
                <a:solidFill>
                  <a:srgbClr val="C00000"/>
                </a:solidFill>
              </a:rPr>
              <a:t>DBAdmin</a:t>
            </a:r>
            <a:r>
              <a:rPr lang="en-US" b="1" dirty="0" smtClean="0">
                <a:solidFill>
                  <a:srgbClr val="C00000"/>
                </a:solidFill>
              </a:rPr>
              <a:t> and </a:t>
            </a:r>
            <a:r>
              <a:rPr lang="en-US" b="1" dirty="0" err="1" smtClean="0">
                <a:solidFill>
                  <a:srgbClr val="C00000"/>
                </a:solidFill>
              </a:rPr>
              <a:t>DBUser</a:t>
            </a:r>
            <a:endParaRPr lang="en-US" b="1" dirty="0" smtClean="0">
              <a:solidFill>
                <a:srgbClr val="C00000"/>
              </a:solidFill>
            </a:endParaRPr>
          </a:p>
          <a:p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C00000"/>
                </a:solidFill>
              </a:rPr>
              <a:t>Both should be re-tested, re-compiled, etc…</a:t>
            </a:r>
          </a:p>
          <a:p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C00000"/>
                </a:solidFill>
              </a:rPr>
              <a:t>But it shouldn’t because </a:t>
            </a:r>
            <a:r>
              <a:rPr lang="en-US" b="1" dirty="0" err="1" smtClean="0">
                <a:solidFill>
                  <a:srgbClr val="C00000"/>
                </a:solidFill>
              </a:rPr>
              <a:t>DBUser</a:t>
            </a:r>
            <a:r>
              <a:rPr lang="en-US" b="1" dirty="0" smtClean="0">
                <a:solidFill>
                  <a:srgbClr val="C00000"/>
                </a:solidFill>
              </a:rPr>
              <a:t> only uses </a:t>
            </a:r>
            <a:r>
              <a:rPr lang="en-US" b="1" dirty="0" err="1" smtClean="0">
                <a:solidFill>
                  <a:srgbClr val="C00000"/>
                </a:solidFill>
              </a:rPr>
              <a:t>selectData</a:t>
            </a:r>
            <a:r>
              <a:rPr lang="en-US" b="1" dirty="0" smtClean="0">
                <a:solidFill>
                  <a:srgbClr val="C00000"/>
                </a:solidFill>
              </a:rPr>
              <a:t>() while </a:t>
            </a:r>
            <a:r>
              <a:rPr lang="en-US" b="1" dirty="0" err="1" smtClean="0">
                <a:solidFill>
                  <a:srgbClr val="C00000"/>
                </a:solidFill>
              </a:rPr>
              <a:t>DBAdmin</a:t>
            </a:r>
            <a:r>
              <a:rPr lang="en-US" b="1" dirty="0" smtClean="0">
                <a:solidFill>
                  <a:srgbClr val="C00000"/>
                </a:solidFill>
              </a:rPr>
              <a:t> only uses </a:t>
            </a:r>
            <a:r>
              <a:rPr lang="en-US" b="1" dirty="0" err="1" smtClean="0">
                <a:solidFill>
                  <a:srgbClr val="C00000"/>
                </a:solidFill>
              </a:rPr>
              <a:t>updateData</a:t>
            </a:r>
            <a:r>
              <a:rPr lang="en-US" b="1" dirty="0" smtClean="0">
                <a:solidFill>
                  <a:srgbClr val="C00000"/>
                </a:solidFill>
              </a:rPr>
              <a:t>() and </a:t>
            </a:r>
            <a:r>
              <a:rPr lang="en-US" b="1" dirty="0" err="1" smtClean="0">
                <a:solidFill>
                  <a:srgbClr val="C00000"/>
                </a:solidFill>
              </a:rPr>
              <a:t>changeSchema</a:t>
            </a:r>
            <a:r>
              <a:rPr lang="en-US" b="1" dirty="0" smtClean="0">
                <a:solidFill>
                  <a:srgbClr val="C00000"/>
                </a:solidFill>
              </a:rPr>
              <a:t>()</a:t>
            </a:r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 Interface	</a:t>
            </a:r>
            <a:endParaRPr lang="en-US" noProof="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1828800"/>
            <a:ext cx="5225219" cy="32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638800" y="1752600"/>
            <a:ext cx="3352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Maybe we should </a:t>
            </a:r>
            <a:r>
              <a:rPr lang="en-US" b="1" dirty="0" smtClean="0">
                <a:solidFill>
                  <a:srgbClr val="C00000"/>
                </a:solidFill>
              </a:rPr>
              <a:t>separate</a:t>
            </a:r>
            <a:r>
              <a:rPr lang="en-US" b="1" dirty="0" smtClean="0"/>
              <a:t> </a:t>
            </a:r>
            <a:r>
              <a:rPr lang="en-US" b="1" dirty="0" err="1" smtClean="0"/>
              <a:t>selectQuery</a:t>
            </a:r>
            <a:r>
              <a:rPr lang="en-US" b="1" dirty="0" smtClean="0"/>
              <a:t>  and </a:t>
            </a:r>
            <a:r>
              <a:rPr lang="en-US" b="1" dirty="0" err="1" smtClean="0"/>
              <a:t>updateData</a:t>
            </a:r>
            <a:r>
              <a:rPr lang="en-US" b="1" dirty="0" smtClean="0"/>
              <a:t>, </a:t>
            </a:r>
            <a:r>
              <a:rPr lang="en-US" b="1" dirty="0" err="1" smtClean="0"/>
              <a:t>changeSchema</a:t>
            </a:r>
            <a:r>
              <a:rPr lang="en-US" b="1" dirty="0" smtClean="0"/>
              <a:t> to different classes ????</a:t>
            </a:r>
          </a:p>
          <a:p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C00000"/>
                </a:solidFill>
              </a:rPr>
              <a:t>What if we DON’T have time to split </a:t>
            </a:r>
            <a:r>
              <a:rPr lang="en-US" b="1" dirty="0" err="1" smtClean="0">
                <a:solidFill>
                  <a:srgbClr val="C00000"/>
                </a:solidFill>
              </a:rPr>
              <a:t>DBUtility</a:t>
            </a:r>
            <a:r>
              <a:rPr lang="en-US" b="1" dirty="0" smtClean="0">
                <a:solidFill>
                  <a:srgbClr val="C00000"/>
                </a:solidFill>
              </a:rPr>
              <a:t> ?</a:t>
            </a:r>
          </a:p>
          <a:p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C00000"/>
                </a:solidFill>
              </a:rPr>
              <a:t>Or what if it DOES NOT MAKE SENSE to split it because it is generally cohesive, providing a single responsibility (ACCESS TO Database) ? </a:t>
            </a:r>
          </a:p>
          <a:p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C00000"/>
                </a:solidFill>
              </a:rPr>
              <a:t>How can we organize better for change?</a:t>
            </a:r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 Interface	</a:t>
            </a:r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838200" y="2438400"/>
            <a:ext cx="7162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endParaRPr lang="en-US" b="1" u="sng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The </a:t>
            </a:r>
            <a:r>
              <a:rPr lang="en-US" b="1" dirty="0" smtClean="0">
                <a:solidFill>
                  <a:srgbClr val="C00000"/>
                </a:solidFill>
              </a:rPr>
              <a:t>Interface Segregation Principle (ISP)</a:t>
            </a:r>
            <a:r>
              <a:rPr lang="en-US" b="1" dirty="0" smtClean="0"/>
              <a:t> says that our </a:t>
            </a:r>
            <a:r>
              <a:rPr lang="en-US" b="1" dirty="0" smtClean="0">
                <a:solidFill>
                  <a:srgbClr val="C00000"/>
                </a:solidFill>
              </a:rPr>
              <a:t>classes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should not depend upon methods that they don’t use </a:t>
            </a:r>
            <a:r>
              <a:rPr lang="en-US" b="1" dirty="0" smtClean="0"/>
              <a:t>!!</a:t>
            </a:r>
          </a:p>
          <a:p>
            <a:endParaRPr lang="en-US" b="1" dirty="0" smtClean="0"/>
          </a:p>
          <a:p>
            <a:r>
              <a:rPr lang="en-US" b="1" dirty="0" smtClean="0"/>
              <a:t>The idea then is to </a:t>
            </a:r>
            <a:r>
              <a:rPr lang="en-US" b="1" dirty="0" smtClean="0">
                <a:solidFill>
                  <a:srgbClr val="C00000"/>
                </a:solidFill>
              </a:rPr>
              <a:t>extract different interfaces </a:t>
            </a:r>
            <a:r>
              <a:rPr lang="en-US" b="1" dirty="0" smtClean="0"/>
              <a:t>that </a:t>
            </a:r>
            <a:r>
              <a:rPr lang="en-US" b="1" dirty="0" smtClean="0">
                <a:solidFill>
                  <a:srgbClr val="C00000"/>
                </a:solidFill>
              </a:rPr>
              <a:t>match the needs of the client classes</a:t>
            </a:r>
            <a:r>
              <a:rPr lang="en-US" b="1" dirty="0" smtClean="0"/>
              <a:t>…</a:t>
            </a:r>
          </a:p>
          <a:p>
            <a:endParaRPr lang="el-GR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 Interface	</a:t>
            </a:r>
            <a:endParaRPr lang="en-US" noProof="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1354" y="1447800"/>
            <a:ext cx="6195646" cy="441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248400" y="2743200"/>
            <a:ext cx="25907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</a:rPr>
              <a:t>DBClient</a:t>
            </a:r>
            <a:r>
              <a:rPr lang="en-US" b="1" dirty="0" smtClean="0">
                <a:solidFill>
                  <a:srgbClr val="C00000"/>
                </a:solidFill>
              </a:rPr>
              <a:t> and </a:t>
            </a:r>
            <a:r>
              <a:rPr lang="en-US" b="1" dirty="0" err="1" smtClean="0">
                <a:solidFill>
                  <a:srgbClr val="C00000"/>
                </a:solidFill>
              </a:rPr>
              <a:t>DBAdmin</a:t>
            </a:r>
            <a:r>
              <a:rPr lang="en-US" b="1" dirty="0" smtClean="0">
                <a:solidFill>
                  <a:srgbClr val="C00000"/>
                </a:solidFill>
              </a:rPr>
              <a:t> are now isolated from changes to methods they do not use as they use different interfaces implemented by the same class</a:t>
            </a:r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6827</TotalTime>
  <Words>1529</Words>
  <Application>Microsoft Office PowerPoint</Application>
  <PresentationFormat>On-screen Show (4:3)</PresentationFormat>
  <Paragraphs>178</Paragraphs>
  <Slides>24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Origin</vt:lpstr>
      <vt:lpstr>Clean Classes www.cs.uoi.gr/~zarras/soft-devII.htm    </vt:lpstr>
      <vt:lpstr>Class Organization </vt:lpstr>
      <vt:lpstr>Encapsulation</vt:lpstr>
      <vt:lpstr>Classes should be small!!</vt:lpstr>
      <vt:lpstr>Classes should be small!!</vt:lpstr>
      <vt:lpstr>Classes should be small!!</vt:lpstr>
      <vt:lpstr>Classes should be small!!</vt:lpstr>
      <vt:lpstr>Classes should be small!!</vt:lpstr>
      <vt:lpstr>The Single Responsibility Principle</vt:lpstr>
      <vt:lpstr>The Single Responsibility Principle</vt:lpstr>
      <vt:lpstr>Smells and related refactorings</vt:lpstr>
      <vt:lpstr>Large Class</vt:lpstr>
      <vt:lpstr>Large Class</vt:lpstr>
      <vt:lpstr>Extract Class</vt:lpstr>
      <vt:lpstr>Extract Class</vt:lpstr>
      <vt:lpstr>Large Class</vt:lpstr>
      <vt:lpstr>Extract Subclass</vt:lpstr>
      <vt:lpstr>Large Class</vt:lpstr>
      <vt:lpstr>Extract Interface </vt:lpstr>
      <vt:lpstr>Extract Interface </vt:lpstr>
      <vt:lpstr>Extract Interface </vt:lpstr>
      <vt:lpstr>Extract Interface </vt:lpstr>
      <vt:lpstr>Extract Interface </vt:lpstr>
      <vt:lpstr>Extract Interface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Code</dc:title>
  <dc:creator>zarras</dc:creator>
  <cp:lastModifiedBy>zarras</cp:lastModifiedBy>
  <cp:revision>213</cp:revision>
  <dcterms:created xsi:type="dcterms:W3CDTF">2006-08-16T00:00:00Z</dcterms:created>
  <dcterms:modified xsi:type="dcterms:W3CDTF">2023-12-01T23:27:45Z</dcterms:modified>
</cp:coreProperties>
</file>