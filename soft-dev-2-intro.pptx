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23"/>
  </p:notesMasterIdLst>
  <p:handoutMasterIdLst>
    <p:handoutMasterId r:id="rId24"/>
  </p:handoutMasterIdLst>
  <p:sldIdLst>
    <p:sldId id="256" r:id="rId2"/>
    <p:sldId id="284" r:id="rId3"/>
    <p:sldId id="285" r:id="rId4"/>
    <p:sldId id="289" r:id="rId5"/>
    <p:sldId id="287" r:id="rId6"/>
    <p:sldId id="288" r:id="rId7"/>
    <p:sldId id="260" r:id="rId8"/>
    <p:sldId id="277" r:id="rId9"/>
    <p:sldId id="278" r:id="rId10"/>
    <p:sldId id="279" r:id="rId11"/>
    <p:sldId id="263" r:id="rId12"/>
    <p:sldId id="280" r:id="rId13"/>
    <p:sldId id="265" r:id="rId14"/>
    <p:sldId id="281" r:id="rId15"/>
    <p:sldId id="266" r:id="rId16"/>
    <p:sldId id="271" r:id="rId17"/>
    <p:sldId id="267" r:id="rId18"/>
    <p:sldId id="268" r:id="rId19"/>
    <p:sldId id="269" r:id="rId20"/>
    <p:sldId id="270" r:id="rId21"/>
    <p:sldId id="272" r:id="rId2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0" autoAdjust="0"/>
    <p:restoredTop sz="99854" autoAdjust="0"/>
  </p:normalViewPr>
  <p:slideViewPr>
    <p:cSldViewPr>
      <p:cViewPr varScale="1">
        <p:scale>
          <a:sx n="63" d="100"/>
          <a:sy n="63" d="100"/>
        </p:scale>
        <p:origin x="159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076363" cy="512304"/>
          </a:xfrm>
          <a:prstGeom prst="rect">
            <a:avLst/>
          </a:prstGeom>
        </p:spPr>
        <p:txBody>
          <a:bodyPr vert="horz" lIns="95739" tIns="47870" rIns="95739" bIns="4787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3"/>
            <a:ext cx="3076363" cy="512304"/>
          </a:xfrm>
          <a:prstGeom prst="rect">
            <a:avLst/>
          </a:prstGeom>
        </p:spPr>
        <p:txBody>
          <a:bodyPr vert="horz" lIns="95739" tIns="47870" rIns="95739" bIns="47870" rtlCol="0"/>
          <a:lstStyle>
            <a:lvl1pPr algn="r">
              <a:defRPr sz="1200"/>
            </a:lvl1pPr>
          </a:lstStyle>
          <a:p>
            <a:fld id="{9C7200FD-C438-496B-A78D-3816F97A74F0}" type="datetimeFigureOut">
              <a:rPr lang="el-GR" smtClean="0"/>
              <a:pPr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674"/>
            <a:ext cx="3076363" cy="512303"/>
          </a:xfrm>
          <a:prstGeom prst="rect">
            <a:avLst/>
          </a:prstGeom>
        </p:spPr>
        <p:txBody>
          <a:bodyPr vert="horz" lIns="95739" tIns="47870" rIns="95739" bIns="4787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0674"/>
            <a:ext cx="3076363" cy="512303"/>
          </a:xfrm>
          <a:prstGeom prst="rect">
            <a:avLst/>
          </a:prstGeom>
        </p:spPr>
        <p:txBody>
          <a:bodyPr vert="horz" lIns="95739" tIns="47870" rIns="95739" bIns="47870" rtlCol="0" anchor="b"/>
          <a:lstStyle>
            <a:lvl1pPr algn="r">
              <a:defRPr sz="1200"/>
            </a:lvl1pPr>
          </a:lstStyle>
          <a:p>
            <a:fld id="{B88149DF-01F0-47C0-9753-EC377A3F4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511731"/>
          </a:xfrm>
          <a:prstGeom prst="rect">
            <a:avLst/>
          </a:prstGeom>
        </p:spPr>
        <p:txBody>
          <a:bodyPr vert="horz" lIns="95739" tIns="47870" rIns="95739" bIns="4787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1731"/>
          </a:xfrm>
          <a:prstGeom prst="rect">
            <a:avLst/>
          </a:prstGeom>
        </p:spPr>
        <p:txBody>
          <a:bodyPr vert="horz" lIns="95739" tIns="47870" rIns="95739" bIns="47870" rtlCol="0"/>
          <a:lstStyle>
            <a:lvl1pPr algn="r">
              <a:defRPr sz="1200"/>
            </a:lvl1pPr>
          </a:lstStyle>
          <a:p>
            <a:fld id="{2313A616-81EC-4D71-A13E-8040CCC87A8F}" type="datetimeFigureOut">
              <a:rPr lang="el-GR" smtClean="0"/>
              <a:pPr/>
              <a:t>1/10/2026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739" tIns="47870" rIns="95739" bIns="4787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5739" tIns="47870" rIns="95739" bIns="4787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5"/>
            <a:ext cx="3076363" cy="511731"/>
          </a:xfrm>
          <a:prstGeom prst="rect">
            <a:avLst/>
          </a:prstGeom>
        </p:spPr>
        <p:txBody>
          <a:bodyPr vert="horz" lIns="95739" tIns="47870" rIns="95739" bIns="4787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5"/>
            <a:ext cx="3076363" cy="511731"/>
          </a:xfrm>
          <a:prstGeom prst="rect">
            <a:avLst/>
          </a:prstGeom>
        </p:spPr>
        <p:txBody>
          <a:bodyPr vert="horz" lIns="95739" tIns="47870" rIns="95739" bIns="47870" rtlCol="0" anchor="b"/>
          <a:lstStyle>
            <a:lvl1pPr algn="r">
              <a:defRPr sz="1200"/>
            </a:lvl1pPr>
          </a:lstStyle>
          <a:p>
            <a:fld id="{44DC1CA9-72BA-4648-A9C1-A848CB0896B4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σκοπός να μάθουμε</a:t>
            </a:r>
            <a:r>
              <a:rPr lang="el-GR" baseline="0" dirty="0"/>
              <a:t> να αναπτύσσουμε γράφουμε καθαρό κώδικα – βασική προϋπόθεση για να έχουμε λογισμικό καλής ποιότητας, δηλαδή, …</a:t>
            </a:r>
          </a:p>
          <a:p>
            <a:endParaRPr lang="el-GR" baseline="0" dirty="0"/>
          </a:p>
          <a:p>
            <a:r>
              <a:rPr lang="el-GR" baseline="0" dirty="0"/>
              <a:t>γενικά είναι κάτι που είναι δύσκολο, γιατί δουλεύουμε </a:t>
            </a:r>
            <a:r>
              <a:rPr lang="el-GR" baseline="0" dirty="0" err="1"/>
              <a:t>υπο</a:t>
            </a:r>
            <a:r>
              <a:rPr lang="el-GR" baseline="0" dirty="0"/>
              <a:t> πίεση, αλλά πρέπει να μάθουμε μα το κάνουμε γιατί σε πραγματικές συνθήκες εργασίας είναι πολύ σημαντικό !  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DC1CA9-72BA-4648-A9C1-A848CB0896B4}" type="slidenum">
              <a:rPr lang="el-GR" smtClean="0"/>
              <a:pPr/>
              <a:t>1</a:t>
            </a:fld>
            <a:endParaRPr lang="el-G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εδώ</a:t>
            </a:r>
            <a:r>
              <a:rPr lang="el-GR" baseline="0" dirty="0"/>
              <a:t> βλέπουμε ακριβώς γιατί είναι σημαντικό</a:t>
            </a:r>
          </a:p>
          <a:p>
            <a:endParaRPr lang="el-GR" baseline="0" dirty="0"/>
          </a:p>
          <a:p>
            <a:r>
              <a:rPr lang="el-GR" baseline="0" dirty="0"/>
              <a:t>το διάγραμμα δείχνει το πώς μεταβάλλεται η παραγωγικότητα μιας ομάδας που αναπτύσσει ένα κακοφτιαγμένο λογισμικό 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DC1CA9-72BA-4648-A9C1-A848CB0896B4}" type="slidenum">
              <a:rPr lang="el-GR" smtClean="0"/>
              <a:pPr/>
              <a:t>7</a:t>
            </a:fld>
            <a:endParaRPr 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ένα σύνηθες σενάριο είναι οι </a:t>
            </a:r>
            <a:r>
              <a:rPr lang="en-US" dirty="0"/>
              <a:t>developers </a:t>
            </a:r>
            <a:r>
              <a:rPr lang="el-GR" dirty="0"/>
              <a:t>να ζητήσουν από τους διαχειριστές</a:t>
            </a:r>
            <a:r>
              <a:rPr lang="el-GR" baseline="0" dirty="0"/>
              <a:t> την συνολική ανακατασκευή του λογισμικού. </a:t>
            </a:r>
          </a:p>
          <a:p>
            <a:endParaRPr lang="el-GR" baseline="0" dirty="0"/>
          </a:p>
          <a:p>
            <a:r>
              <a:rPr lang="el-GR" baseline="0" dirty="0"/>
              <a:t>συνήθως οι διαχειριστές το δέχονται κατόπιν πίεσης και με βάση την ελάχιστη παραγωγικότητα </a:t>
            </a:r>
          </a:p>
          <a:p>
            <a:endParaRPr lang="el-GR" baseline="0" dirty="0"/>
          </a:p>
          <a:p>
            <a:r>
              <a:rPr lang="el-GR" baseline="0" dirty="0"/>
              <a:t>οπότε οργανώνουν μια ομάδα με στόχο την </a:t>
            </a:r>
            <a:r>
              <a:rPr lang="el-GR" baseline="0" dirty="0" err="1"/>
              <a:t>ανακατσκευή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DC1CA9-72BA-4648-A9C1-A848CB0896B4}" type="slidenum">
              <a:rPr lang="el-GR" smtClean="0"/>
              <a:pPr/>
              <a:t>9</a:t>
            </a:fld>
            <a:endParaRPr lang="el-G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το να κρατάμε τον</a:t>
            </a:r>
            <a:r>
              <a:rPr lang="el-GR" baseline="0" dirty="0"/>
              <a:t> κώδικά μας καθαρό είναι ο μόνος τρόπος να αποφύγουμε τέτοιες καταστάσεις …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DC1CA9-72BA-4648-A9C1-A848CB0896B4}" type="slidenum">
              <a:rPr lang="el-GR" smtClean="0"/>
              <a:pPr/>
              <a:t>11</a:t>
            </a:fld>
            <a:endParaRPr lang="el-G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απλός και άμεσος </a:t>
            </a:r>
          </a:p>
          <a:p>
            <a:endParaRPr lang="el-GR" dirty="0"/>
          </a:p>
          <a:p>
            <a:endParaRPr lang="el-GR" dirty="0"/>
          </a:p>
          <a:p>
            <a:r>
              <a:rPr lang="el-GR" dirty="0"/>
              <a:t>(</a:t>
            </a:r>
            <a:r>
              <a:rPr lang="en-US" dirty="0" err="1"/>
              <a:t>booch</a:t>
            </a:r>
            <a:r>
              <a:rPr lang="en-US" baseline="0" dirty="0"/>
              <a:t>, </a:t>
            </a:r>
            <a:r>
              <a:rPr lang="en-US" baseline="0" dirty="0" err="1"/>
              <a:t>rumbaugh</a:t>
            </a:r>
            <a:r>
              <a:rPr lang="en-US" baseline="0" dirty="0"/>
              <a:t>, </a:t>
            </a:r>
            <a:r>
              <a:rPr lang="en-US" baseline="0" dirty="0" err="1"/>
              <a:t>jacobson</a:t>
            </a:r>
            <a:r>
              <a:rPr lang="en-US" baseline="0" dirty="0"/>
              <a:t>)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DC1CA9-72BA-4648-A9C1-A848CB0896B4}" type="slidenum">
              <a:rPr lang="el-GR" smtClean="0"/>
              <a:pPr/>
              <a:t>15</a:t>
            </a:fld>
            <a:endParaRPr lang="el-G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αποδοτικός και κομψός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DC1CA9-72BA-4648-A9C1-A848CB0896B4}" type="slidenum">
              <a:rPr lang="el-GR" smtClean="0"/>
              <a:pPr/>
              <a:t>16</a:t>
            </a:fld>
            <a:endParaRPr 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oi.gr/~zarras/soft-devII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Development II</a:t>
            </a:r>
            <a:br>
              <a:rPr lang="en-US" dirty="0"/>
            </a:br>
            <a:r>
              <a:rPr lang="en-US" sz="1800" dirty="0">
                <a:hlinkClick r:id="rId3"/>
              </a:rPr>
              <a:t>www.cs.uoi.gr/~zarras/soft-devII.htm</a:t>
            </a:r>
            <a:r>
              <a:rPr lang="en-US" sz="1800" dirty="0"/>
              <a:t>    </a:t>
            </a:r>
            <a:endParaRPr lang="el-GR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Clean Code by R. C. Martin, </a:t>
            </a:r>
            <a:r>
              <a:rPr lang="en-US" dirty="0" err="1"/>
              <a:t>a.k.a</a:t>
            </a:r>
            <a:r>
              <a:rPr lang="en-US" dirty="0"/>
              <a:t> “Uncle Bob”</a:t>
            </a:r>
            <a:endParaRPr lang="el-GR" dirty="0"/>
          </a:p>
        </p:txBody>
      </p:sp>
      <p:pic>
        <p:nvPicPr>
          <p:cNvPr id="6" name="Picture 2" descr="http://t2.gstatic.com/images?q=tbn:ANd9GcTOhPv_bDXSN0GfL9I85ZGSqu-BJvbalPrdMqcCG3X4eNPuGtn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7400" y="228600"/>
            <a:ext cx="4724400" cy="3313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the general objectives of the course?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Identify </a:t>
            </a:r>
            <a:r>
              <a:rPr lang="en-US" dirty="0">
                <a:solidFill>
                  <a:srgbClr val="FF0000"/>
                </a:solidFill>
              </a:rPr>
              <a:t>issues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poor</a:t>
            </a:r>
            <a:r>
              <a:rPr lang="en-US" dirty="0"/>
              <a:t> software </a:t>
            </a:r>
            <a:r>
              <a:rPr lang="en-US" dirty="0">
                <a:solidFill>
                  <a:srgbClr val="FF0000"/>
                </a:solidFill>
              </a:rPr>
              <a:t>design/implementation</a:t>
            </a:r>
            <a:r>
              <a:rPr lang="en-US" dirty="0"/>
              <a:t>. </a:t>
            </a:r>
          </a:p>
          <a:p>
            <a:r>
              <a:rPr lang="en-US" dirty="0"/>
              <a:t>Improve the quality of software that suffers from issues of poor software design/implementation by applying </a:t>
            </a:r>
            <a:r>
              <a:rPr lang="en-US" dirty="0">
                <a:solidFill>
                  <a:srgbClr val="FF0000"/>
                </a:solidFill>
              </a:rPr>
              <a:t>good practices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refactoring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patterns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study ?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Clean Code Rules</a:t>
            </a:r>
          </a:p>
          <a:p>
            <a:pPr lvl="1"/>
            <a:r>
              <a:rPr lang="en-US" dirty="0"/>
              <a:t>Meaningful Names</a:t>
            </a:r>
          </a:p>
          <a:p>
            <a:pPr lvl="1"/>
            <a:r>
              <a:rPr lang="en-US" dirty="0"/>
              <a:t>Comments</a:t>
            </a:r>
          </a:p>
          <a:p>
            <a:pPr lvl="1"/>
            <a:r>
              <a:rPr lang="en-US" dirty="0"/>
              <a:t>Formatting</a:t>
            </a:r>
          </a:p>
          <a:p>
            <a:pPr lvl="1"/>
            <a:r>
              <a:rPr lang="en-US" dirty="0"/>
              <a:t>Functions/Methods</a:t>
            </a:r>
          </a:p>
          <a:p>
            <a:pPr lvl="1"/>
            <a:r>
              <a:rPr lang="en-US" dirty="0"/>
              <a:t>Classes</a:t>
            </a:r>
          </a:p>
        </p:txBody>
      </p:sp>
      <p:pic>
        <p:nvPicPr>
          <p:cNvPr id="32770" name="Picture 2" descr="Αποτέλεσμα εικόνας για clean code rul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1905000"/>
            <a:ext cx="4429125" cy="23729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study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4041648" cy="4937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Code Smells</a:t>
            </a:r>
          </a:p>
          <a:p>
            <a:pPr lvl="1"/>
            <a:r>
              <a:rPr lang="en-US" dirty="0"/>
              <a:t>Long Method</a:t>
            </a:r>
          </a:p>
          <a:p>
            <a:pPr lvl="1"/>
            <a:r>
              <a:rPr lang="en-US" dirty="0"/>
              <a:t>Large Class</a:t>
            </a:r>
          </a:p>
          <a:p>
            <a:pPr lvl="1"/>
            <a:r>
              <a:rPr lang="en-US" dirty="0"/>
              <a:t>Long </a:t>
            </a:r>
            <a:r>
              <a:rPr lang="en-US" dirty="0" err="1"/>
              <a:t>Param</a:t>
            </a:r>
            <a:r>
              <a:rPr lang="en-US" dirty="0"/>
              <a:t> List</a:t>
            </a:r>
          </a:p>
          <a:p>
            <a:pPr lvl="1"/>
            <a:r>
              <a:rPr lang="en-US" dirty="0"/>
              <a:t>Primitive Obsession</a:t>
            </a:r>
          </a:p>
          <a:p>
            <a:pPr lvl="1"/>
            <a:r>
              <a:rPr lang="en-US" dirty="0"/>
              <a:t>Data Container</a:t>
            </a:r>
          </a:p>
          <a:p>
            <a:pPr lvl="1"/>
            <a:r>
              <a:rPr lang="en-US" dirty="0"/>
              <a:t>Duplication</a:t>
            </a:r>
          </a:p>
          <a:p>
            <a:pPr lvl="1"/>
            <a:r>
              <a:rPr lang="en-US" dirty="0"/>
              <a:t>Feature Envy</a:t>
            </a:r>
          </a:p>
          <a:p>
            <a:pPr lvl="1"/>
            <a:r>
              <a:rPr lang="en-US" dirty="0"/>
              <a:t>Shotgun Surgery  </a:t>
            </a:r>
          </a:p>
          <a:p>
            <a:pPr lvl="1"/>
            <a:r>
              <a:rPr lang="en-US" dirty="0"/>
              <a:t>Message Chains</a:t>
            </a:r>
          </a:p>
          <a:p>
            <a:pPr lvl="1"/>
            <a:r>
              <a:rPr lang="en-US" dirty="0"/>
              <a:t>Middle Man</a:t>
            </a:r>
          </a:p>
          <a:p>
            <a:pPr lvl="1"/>
            <a:r>
              <a:rPr lang="en-US" dirty="0"/>
              <a:t>……..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29200" y="1371600"/>
            <a:ext cx="4041648" cy="4937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Refactoring Techniques</a:t>
            </a:r>
          </a:p>
          <a:p>
            <a:pPr lvl="1"/>
            <a:r>
              <a:rPr lang="en-US" dirty="0"/>
              <a:t>Composing Methods</a:t>
            </a:r>
          </a:p>
          <a:p>
            <a:pPr lvl="1"/>
            <a:r>
              <a:rPr lang="en-US" dirty="0"/>
              <a:t>Simplifying Conditionals</a:t>
            </a:r>
          </a:p>
          <a:p>
            <a:pPr lvl="1"/>
            <a:r>
              <a:rPr lang="en-US" dirty="0"/>
              <a:t>Moving Features</a:t>
            </a:r>
          </a:p>
          <a:p>
            <a:pPr lvl="1"/>
            <a:r>
              <a:rPr lang="en-US" dirty="0"/>
              <a:t>Generalization</a:t>
            </a:r>
          </a:p>
          <a:p>
            <a:pPr lvl="1"/>
            <a:r>
              <a:rPr lang="en-US" dirty="0"/>
              <a:t>Simplifying Method Calls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 descr="Αποτέλεσμα εικόνας για bad smell carto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1905000"/>
            <a:ext cx="2133600" cy="21336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Readings 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l-GR" sz="2400" dirty="0" err="1">
                <a:latin typeface="Gill Sans MT" pitchFamily="34" charset="0"/>
              </a:rPr>
              <a:t>Αντικειμενοστρεφής</a:t>
            </a:r>
            <a:r>
              <a:rPr lang="el-GR" sz="2400" dirty="0">
                <a:latin typeface="Gill Sans MT" pitchFamily="34" charset="0"/>
              </a:rPr>
              <a:t> Σχεδίαση, Α. Χατζηγεωργίου</a:t>
            </a:r>
          </a:p>
          <a:p>
            <a:r>
              <a:rPr lang="el-GR" sz="2400" dirty="0">
                <a:latin typeface="Gill Sans MT" pitchFamily="34" charset="0"/>
              </a:rPr>
              <a:t>Ανάπτυξη Προγραμμάτων σε </a:t>
            </a:r>
            <a:r>
              <a:rPr lang="en-US" sz="2400" dirty="0">
                <a:latin typeface="Gill Sans MT" pitchFamily="34" charset="0"/>
              </a:rPr>
              <a:t>Java, B. </a:t>
            </a:r>
            <a:r>
              <a:rPr lang="en-US" sz="2400" dirty="0" err="1">
                <a:latin typeface="Gill Sans MT" pitchFamily="34" charset="0"/>
              </a:rPr>
              <a:t>Liskov</a:t>
            </a:r>
            <a:r>
              <a:rPr lang="en-US" sz="2400" dirty="0">
                <a:latin typeface="Gill Sans MT" pitchFamily="34" charset="0"/>
              </a:rPr>
              <a:t>, J </a:t>
            </a:r>
            <a:r>
              <a:rPr lang="en-US" sz="2400" dirty="0" err="1">
                <a:latin typeface="Gill Sans MT" pitchFamily="34" charset="0"/>
              </a:rPr>
              <a:t>Guttag</a:t>
            </a:r>
            <a:endParaRPr lang="en-US" sz="2400" dirty="0">
              <a:latin typeface="Gill Sans MT" pitchFamily="34" charset="0"/>
            </a:endParaRPr>
          </a:p>
          <a:p>
            <a:endParaRPr lang="fr-FR" sz="2400" dirty="0">
              <a:latin typeface="Gill Sans MT" pitchFamily="34" charset="0"/>
            </a:endParaRPr>
          </a:p>
          <a:p>
            <a:r>
              <a:rPr lang="fr-FR" sz="2400" dirty="0">
                <a:latin typeface="Gill Sans MT" pitchFamily="34" charset="0"/>
              </a:rPr>
              <a:t>Clean Code - A </a:t>
            </a:r>
            <a:r>
              <a:rPr lang="fr-FR" sz="2400" dirty="0" err="1">
                <a:latin typeface="Gill Sans MT" pitchFamily="34" charset="0"/>
              </a:rPr>
              <a:t>Handbook</a:t>
            </a:r>
            <a:r>
              <a:rPr lang="fr-FR" sz="2400" dirty="0">
                <a:latin typeface="Gill Sans MT" pitchFamily="34" charset="0"/>
              </a:rPr>
              <a:t> of Agile Software </a:t>
            </a:r>
            <a:r>
              <a:rPr lang="fr-FR" sz="2400" dirty="0" err="1">
                <a:latin typeface="Gill Sans MT" pitchFamily="34" charset="0"/>
              </a:rPr>
              <a:t>Craftsmanship</a:t>
            </a:r>
            <a:r>
              <a:rPr lang="fr-FR" sz="2400" dirty="0">
                <a:latin typeface="Gill Sans MT" pitchFamily="34" charset="0"/>
              </a:rPr>
              <a:t>, R. C. Martin</a:t>
            </a:r>
          </a:p>
          <a:p>
            <a:r>
              <a:rPr lang="fr-FR" sz="2400" dirty="0" err="1">
                <a:latin typeface="Gill Sans MT" pitchFamily="34" charset="0"/>
              </a:rPr>
              <a:t>Refactoring</a:t>
            </a:r>
            <a:r>
              <a:rPr lang="fr-FR" sz="2400" dirty="0">
                <a:latin typeface="Gill Sans MT" pitchFamily="34" charset="0"/>
              </a:rPr>
              <a:t> - </a:t>
            </a:r>
            <a:r>
              <a:rPr lang="fr-FR" sz="2400" dirty="0" err="1">
                <a:latin typeface="Gill Sans MT" pitchFamily="34" charset="0"/>
              </a:rPr>
              <a:t>Improving</a:t>
            </a:r>
            <a:r>
              <a:rPr lang="fr-FR" sz="2400" dirty="0">
                <a:latin typeface="Gill Sans MT" pitchFamily="34" charset="0"/>
              </a:rPr>
              <a:t> the Design of </a:t>
            </a:r>
            <a:r>
              <a:rPr lang="fr-FR" sz="2400" dirty="0" err="1">
                <a:latin typeface="Gill Sans MT" pitchFamily="34" charset="0"/>
              </a:rPr>
              <a:t>Existing</a:t>
            </a:r>
            <a:r>
              <a:rPr lang="fr-FR" sz="2400" dirty="0">
                <a:latin typeface="Gill Sans MT" pitchFamily="34" charset="0"/>
              </a:rPr>
              <a:t> Code, </a:t>
            </a:r>
            <a:r>
              <a:rPr lang="fr-FR" sz="2400" dirty="0" err="1">
                <a:latin typeface="Gill Sans MT" pitchFamily="34" charset="0"/>
              </a:rPr>
              <a:t>M.Fowler</a:t>
            </a:r>
            <a:endParaRPr lang="fr-FR" sz="2400" dirty="0">
              <a:latin typeface="Gill Sans MT" pitchFamily="34" charset="0"/>
            </a:endParaRPr>
          </a:p>
          <a:p>
            <a:r>
              <a:rPr lang="fr-FR" sz="2400" dirty="0">
                <a:latin typeface="Gill Sans MT" pitchFamily="34" charset="0"/>
              </a:rPr>
              <a:t>Object-</a:t>
            </a:r>
            <a:r>
              <a:rPr lang="fr-FR" sz="2400" dirty="0" err="1">
                <a:latin typeface="Gill Sans MT" pitchFamily="34" charset="0"/>
              </a:rPr>
              <a:t>Oriented</a:t>
            </a:r>
            <a:r>
              <a:rPr lang="fr-FR" sz="2400" dirty="0">
                <a:latin typeface="Gill Sans MT" pitchFamily="34" charset="0"/>
              </a:rPr>
              <a:t> Reengineering Patterns, Serge Demeyer, Stéphane Ducasse, Oscar </a:t>
            </a:r>
            <a:r>
              <a:rPr lang="fr-FR" sz="2400" dirty="0" err="1">
                <a:latin typeface="Gill Sans MT" pitchFamily="34" charset="0"/>
              </a:rPr>
              <a:t>Nierstrasz</a:t>
            </a:r>
            <a:endParaRPr lang="fr-FR" sz="2400" dirty="0">
              <a:latin typeface="Gill Sans MT" pitchFamily="34" charset="0"/>
            </a:endParaRPr>
          </a:p>
          <a:p>
            <a:endParaRPr lang="el-G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Project, Final Exam &amp; Grades</a:t>
            </a:r>
            <a:endParaRPr lang="el-G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10640"/>
            <a:ext cx="8534400" cy="4937760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l-GR" dirty="0"/>
              <a:t>The </a:t>
            </a:r>
            <a:r>
              <a:rPr lang="el-GR" dirty="0" err="1"/>
              <a:t>project</a:t>
            </a:r>
            <a:r>
              <a:rPr lang="el-GR" dirty="0"/>
              <a:t> </a:t>
            </a:r>
            <a:r>
              <a:rPr lang="el-GR" dirty="0" err="1"/>
              <a:t>will</a:t>
            </a:r>
            <a:r>
              <a:rPr lang="el-GR" dirty="0"/>
              <a:t> </a:t>
            </a:r>
            <a:r>
              <a:rPr lang="el-GR" dirty="0" err="1"/>
              <a:t>be</a:t>
            </a:r>
            <a:r>
              <a:rPr lang="el-GR" dirty="0"/>
              <a:t> </a:t>
            </a:r>
            <a:r>
              <a:rPr lang="el-GR" dirty="0" err="1"/>
              <a:t>developed</a:t>
            </a:r>
            <a:r>
              <a:rPr lang="el-GR" dirty="0"/>
              <a:t> in </a:t>
            </a:r>
            <a:r>
              <a:rPr lang="el-GR" b="1" dirty="0" err="1"/>
              <a:t>groups</a:t>
            </a:r>
            <a:r>
              <a:rPr lang="el-GR" b="1" dirty="0"/>
              <a:t> of </a:t>
            </a:r>
            <a:r>
              <a:rPr lang="el-GR" b="1" dirty="0" err="1"/>
              <a:t>up</a:t>
            </a:r>
            <a:r>
              <a:rPr lang="el-GR" b="1" dirty="0"/>
              <a:t> </a:t>
            </a:r>
            <a:r>
              <a:rPr lang="el-GR" b="1" dirty="0" err="1"/>
              <a:t>to</a:t>
            </a:r>
            <a:r>
              <a:rPr lang="el-GR" b="1" dirty="0"/>
              <a:t> 2 </a:t>
            </a:r>
            <a:r>
              <a:rPr lang="el-GR" b="1" dirty="0" err="1"/>
              <a:t>students</a:t>
            </a:r>
            <a:r>
              <a:rPr lang="el-GR" dirty="0"/>
              <a:t>.</a:t>
            </a:r>
          </a:p>
          <a:p>
            <a:pPr lvl="1"/>
            <a:r>
              <a:rPr lang="el-GR" dirty="0" err="1">
                <a:solidFill>
                  <a:schemeClr val="tx1"/>
                </a:solidFill>
              </a:rPr>
              <a:t>You</a:t>
            </a:r>
            <a:r>
              <a:rPr lang="el-GR" dirty="0">
                <a:solidFill>
                  <a:schemeClr val="tx1"/>
                </a:solidFill>
              </a:rPr>
              <a:t> </a:t>
            </a:r>
            <a:r>
              <a:rPr lang="el-GR" dirty="0" err="1">
                <a:solidFill>
                  <a:schemeClr val="tx1"/>
                </a:solidFill>
              </a:rPr>
              <a:t>will</a:t>
            </a:r>
            <a:r>
              <a:rPr lang="el-GR" dirty="0">
                <a:solidFill>
                  <a:schemeClr val="tx1"/>
                </a:solidFill>
              </a:rPr>
              <a:t> </a:t>
            </a:r>
            <a:r>
              <a:rPr lang="el-GR" b="1" dirty="0" err="1">
                <a:solidFill>
                  <a:schemeClr val="tx1"/>
                </a:solidFill>
              </a:rPr>
              <a:t>review</a:t>
            </a:r>
            <a:r>
              <a:rPr lang="el-GR" b="1" dirty="0">
                <a:solidFill>
                  <a:schemeClr val="tx1"/>
                </a:solidFill>
              </a:rPr>
              <a:t> and </a:t>
            </a:r>
            <a:r>
              <a:rPr lang="el-GR" b="1" dirty="0" err="1">
                <a:solidFill>
                  <a:schemeClr val="tx1"/>
                </a:solidFill>
              </a:rPr>
              <a:t>analyze</a:t>
            </a:r>
            <a:r>
              <a:rPr lang="el-GR" b="1" dirty="0">
                <a:solidFill>
                  <a:schemeClr val="tx1"/>
                </a:solidFill>
              </a:rPr>
              <a:t> </a:t>
            </a:r>
            <a:r>
              <a:rPr lang="el-GR" b="1" dirty="0" err="1">
                <a:solidFill>
                  <a:schemeClr val="tx1"/>
                </a:solidFill>
              </a:rPr>
              <a:t>an</a:t>
            </a:r>
            <a:r>
              <a:rPr lang="el-GR" b="1" dirty="0">
                <a:solidFill>
                  <a:schemeClr val="tx1"/>
                </a:solidFill>
              </a:rPr>
              <a:t> </a:t>
            </a:r>
            <a:r>
              <a:rPr lang="el-GR" b="1" dirty="0" err="1">
                <a:solidFill>
                  <a:schemeClr val="tx1"/>
                </a:solidFill>
              </a:rPr>
              <a:t>existing</a:t>
            </a:r>
            <a:r>
              <a:rPr lang="el-GR" b="1" dirty="0">
                <a:solidFill>
                  <a:schemeClr val="tx1"/>
                </a:solidFill>
              </a:rPr>
              <a:t> </a:t>
            </a:r>
            <a:r>
              <a:rPr lang="el-GR" b="1" dirty="0" err="1">
                <a:solidFill>
                  <a:schemeClr val="tx1"/>
                </a:solidFill>
              </a:rPr>
              <a:t>software</a:t>
            </a:r>
            <a:r>
              <a:rPr lang="el-GR" b="1" dirty="0">
                <a:solidFill>
                  <a:schemeClr val="tx1"/>
                </a:solidFill>
              </a:rPr>
              <a:t> </a:t>
            </a:r>
            <a:r>
              <a:rPr lang="el-GR" b="1" dirty="0" err="1">
                <a:solidFill>
                  <a:schemeClr val="tx1"/>
                </a:solidFill>
              </a:rPr>
              <a:t>system</a:t>
            </a:r>
            <a:r>
              <a:rPr lang="el-GR" dirty="0">
                <a:solidFill>
                  <a:schemeClr val="tx1"/>
                </a:solidFill>
              </a:rPr>
              <a:t>, </a:t>
            </a:r>
            <a:r>
              <a:rPr lang="el-GR" dirty="0" err="1">
                <a:solidFill>
                  <a:schemeClr val="tx1"/>
                </a:solidFill>
              </a:rPr>
              <a:t>identify</a:t>
            </a:r>
            <a:r>
              <a:rPr lang="el-GR" dirty="0">
                <a:solidFill>
                  <a:schemeClr val="tx1"/>
                </a:solidFill>
              </a:rPr>
              <a:t> </a:t>
            </a:r>
            <a:r>
              <a:rPr lang="el-GR" dirty="0" err="1">
                <a:solidFill>
                  <a:schemeClr val="tx1"/>
                </a:solidFill>
              </a:rPr>
              <a:t>its</a:t>
            </a:r>
            <a:r>
              <a:rPr lang="el-GR" dirty="0">
                <a:solidFill>
                  <a:schemeClr val="tx1"/>
                </a:solidFill>
              </a:rPr>
              <a:t> </a:t>
            </a:r>
            <a:r>
              <a:rPr lang="el-GR" dirty="0" err="1">
                <a:solidFill>
                  <a:schemeClr val="tx1"/>
                </a:solidFill>
              </a:rPr>
              <a:t>problems</a:t>
            </a:r>
            <a:r>
              <a:rPr lang="el-GR" dirty="0">
                <a:solidFill>
                  <a:schemeClr val="tx1"/>
                </a:solidFill>
              </a:rPr>
              <a:t>, and </a:t>
            </a:r>
            <a:r>
              <a:rPr lang="el-GR" dirty="0" err="1">
                <a:solidFill>
                  <a:schemeClr val="tx1"/>
                </a:solidFill>
              </a:rPr>
              <a:t>propose</a:t>
            </a:r>
            <a:r>
              <a:rPr lang="el-GR" dirty="0">
                <a:solidFill>
                  <a:schemeClr val="tx1"/>
                </a:solidFill>
              </a:rPr>
              <a:t> </a:t>
            </a:r>
            <a:r>
              <a:rPr lang="el-GR" dirty="0" err="1">
                <a:solidFill>
                  <a:schemeClr val="tx1"/>
                </a:solidFill>
              </a:rPr>
              <a:t>improvements</a:t>
            </a:r>
            <a:r>
              <a:rPr lang="el-GR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l-GR" dirty="0" err="1">
                <a:solidFill>
                  <a:schemeClr val="tx1"/>
                </a:solidFill>
              </a:rPr>
              <a:t>You</a:t>
            </a:r>
            <a:r>
              <a:rPr lang="el-GR" dirty="0">
                <a:solidFill>
                  <a:schemeClr val="tx1"/>
                </a:solidFill>
              </a:rPr>
              <a:t> </a:t>
            </a:r>
            <a:r>
              <a:rPr lang="el-GR" dirty="0" err="1">
                <a:solidFill>
                  <a:schemeClr val="tx1"/>
                </a:solidFill>
              </a:rPr>
              <a:t>will</a:t>
            </a:r>
            <a:r>
              <a:rPr lang="el-GR" dirty="0">
                <a:solidFill>
                  <a:schemeClr val="tx1"/>
                </a:solidFill>
              </a:rPr>
              <a:t> </a:t>
            </a:r>
            <a:r>
              <a:rPr lang="el-GR" b="1" dirty="0" err="1">
                <a:solidFill>
                  <a:schemeClr val="tx1"/>
                </a:solidFill>
              </a:rPr>
              <a:t>refactor</a:t>
            </a:r>
            <a:r>
              <a:rPr lang="el-GR" b="1" dirty="0">
                <a:solidFill>
                  <a:schemeClr val="tx1"/>
                </a:solidFill>
              </a:rPr>
              <a:t> and </a:t>
            </a:r>
            <a:r>
              <a:rPr lang="el-GR" b="1" dirty="0" err="1">
                <a:solidFill>
                  <a:schemeClr val="tx1"/>
                </a:solidFill>
              </a:rPr>
              <a:t>extend</a:t>
            </a:r>
            <a:r>
              <a:rPr lang="el-GR" dirty="0">
                <a:solidFill>
                  <a:schemeClr val="tx1"/>
                </a:solidFill>
              </a:rPr>
              <a:t> the </a:t>
            </a:r>
            <a:r>
              <a:rPr lang="el-GR" dirty="0" err="1">
                <a:solidFill>
                  <a:schemeClr val="tx1"/>
                </a:solidFill>
              </a:rPr>
              <a:t>software</a:t>
            </a:r>
            <a:r>
              <a:rPr lang="el-GR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l-GR" dirty="0" err="1"/>
              <a:t>There</a:t>
            </a:r>
            <a:r>
              <a:rPr lang="el-GR" dirty="0"/>
              <a:t> </a:t>
            </a:r>
            <a:r>
              <a:rPr lang="el-GR" dirty="0" err="1"/>
              <a:t>will</a:t>
            </a:r>
            <a:r>
              <a:rPr lang="el-GR" dirty="0"/>
              <a:t> </a:t>
            </a:r>
            <a:r>
              <a:rPr lang="el-GR" dirty="0" err="1"/>
              <a:t>be</a:t>
            </a:r>
            <a:r>
              <a:rPr lang="el-GR" dirty="0"/>
              <a:t> a </a:t>
            </a:r>
            <a:r>
              <a:rPr lang="el-GR" b="1" dirty="0" err="1"/>
              <a:t>final</a:t>
            </a:r>
            <a:r>
              <a:rPr lang="el-GR" b="1" dirty="0"/>
              <a:t> </a:t>
            </a:r>
            <a:r>
              <a:rPr lang="el-GR" b="1" dirty="0" err="1"/>
              <a:t>examination</a:t>
            </a:r>
            <a:r>
              <a:rPr lang="el-GR" dirty="0"/>
              <a:t> </a:t>
            </a:r>
            <a:r>
              <a:rPr lang="el-GR" dirty="0" err="1"/>
              <a:t>at</a:t>
            </a:r>
            <a:r>
              <a:rPr lang="el-GR" dirty="0"/>
              <a:t> the </a:t>
            </a:r>
            <a:r>
              <a:rPr lang="el-GR" dirty="0" err="1"/>
              <a:t>end</a:t>
            </a:r>
            <a:r>
              <a:rPr lang="el-GR" dirty="0"/>
              <a:t> of the </a:t>
            </a:r>
            <a:r>
              <a:rPr lang="el-GR" dirty="0" err="1"/>
              <a:t>semester</a:t>
            </a:r>
            <a:r>
              <a:rPr lang="el-GR" dirty="0"/>
              <a:t>.</a:t>
            </a:r>
          </a:p>
          <a:p>
            <a:pPr lvl="0"/>
            <a:endParaRPr lang="en-US" b="1" dirty="0"/>
          </a:p>
          <a:p>
            <a:pPr lvl="0"/>
            <a:r>
              <a:rPr lang="el-GR" b="1" dirty="0"/>
              <a:t>Project </a:t>
            </a:r>
            <a:r>
              <a:rPr lang="el-GR" b="1" dirty="0" err="1"/>
              <a:t>grades</a:t>
            </a:r>
            <a:r>
              <a:rPr lang="el-GR" b="1" dirty="0"/>
              <a:t> </a:t>
            </a:r>
            <a:r>
              <a:rPr lang="el-GR" b="1" dirty="0" err="1"/>
              <a:t>from</a:t>
            </a:r>
            <a:r>
              <a:rPr lang="el-GR" b="1" dirty="0"/>
              <a:t> </a:t>
            </a:r>
            <a:r>
              <a:rPr lang="el-GR" b="1" dirty="0" err="1"/>
              <a:t>previous</a:t>
            </a:r>
            <a:r>
              <a:rPr lang="el-GR" b="1" dirty="0"/>
              <a:t> </a:t>
            </a:r>
            <a:r>
              <a:rPr lang="el-GR" b="1" dirty="0" err="1"/>
              <a:t>years</a:t>
            </a:r>
            <a:r>
              <a:rPr lang="el-GR" b="1" dirty="0"/>
              <a:t> </a:t>
            </a:r>
            <a:r>
              <a:rPr lang="el-GR" b="1" dirty="0" err="1"/>
              <a:t>do</a:t>
            </a:r>
            <a:r>
              <a:rPr lang="el-GR" b="1" dirty="0"/>
              <a:t> </a:t>
            </a:r>
            <a:r>
              <a:rPr lang="el-GR" b="1" dirty="0" err="1"/>
              <a:t>not</a:t>
            </a:r>
            <a:r>
              <a:rPr lang="el-GR" b="1" dirty="0"/>
              <a:t> </a:t>
            </a:r>
            <a:r>
              <a:rPr lang="el-GR" b="1" dirty="0" err="1"/>
              <a:t>count</a:t>
            </a:r>
            <a:r>
              <a:rPr lang="el-GR" dirty="0"/>
              <a:t>.</a:t>
            </a:r>
            <a:r>
              <a:rPr lang="en-US" dirty="0"/>
              <a:t> Students who submitted a </a:t>
            </a:r>
            <a:r>
              <a:rPr lang="en-US" b="1" dirty="0">
                <a:solidFill>
                  <a:srgbClr val="FF0000"/>
                </a:solidFill>
              </a:rPr>
              <a:t>project the years 2014 to 2026 </a:t>
            </a:r>
            <a:r>
              <a:rPr lang="en-US" dirty="0"/>
              <a:t>will be graded only based on their </a:t>
            </a:r>
            <a:r>
              <a:rPr lang="en-US" b="1" dirty="0">
                <a:solidFill>
                  <a:srgbClr val="FF0000"/>
                </a:solidFill>
              </a:rPr>
              <a:t>final exam.</a:t>
            </a:r>
            <a:r>
              <a:rPr lang="en-US" dirty="0"/>
              <a:t> </a:t>
            </a:r>
            <a:endParaRPr lang="el-GR" dirty="0"/>
          </a:p>
          <a:p>
            <a:endParaRPr lang="en-US" b="1" dirty="0"/>
          </a:p>
          <a:p>
            <a:r>
              <a:rPr lang="en-US" b="1" dirty="0"/>
              <a:t>For this year</a:t>
            </a:r>
            <a:endParaRPr lang="el-GR" b="1" dirty="0"/>
          </a:p>
          <a:p>
            <a:pPr lvl="1"/>
            <a:r>
              <a:rPr lang="el-GR" sz="2400" dirty="0" err="1">
                <a:solidFill>
                  <a:schemeClr val="tx1"/>
                </a:solidFill>
              </a:rPr>
              <a:t>If</a:t>
            </a:r>
            <a:r>
              <a:rPr lang="el-GR" sz="2400" dirty="0">
                <a:solidFill>
                  <a:schemeClr val="tx1"/>
                </a:solidFill>
              </a:rPr>
              <a:t> the </a:t>
            </a:r>
            <a:r>
              <a:rPr lang="el-GR" sz="2400" b="1" dirty="0" err="1">
                <a:solidFill>
                  <a:schemeClr val="tx1"/>
                </a:solidFill>
              </a:rPr>
              <a:t>exam</a:t>
            </a:r>
            <a:r>
              <a:rPr lang="el-GR" sz="2400" b="1" dirty="0">
                <a:solidFill>
                  <a:schemeClr val="tx1"/>
                </a:solidFill>
              </a:rPr>
              <a:t> </a:t>
            </a:r>
            <a:r>
              <a:rPr lang="el-GR" sz="2400" b="1" dirty="0" err="1">
                <a:solidFill>
                  <a:schemeClr val="tx1"/>
                </a:solidFill>
              </a:rPr>
              <a:t>grade</a:t>
            </a:r>
            <a:r>
              <a:rPr lang="el-GR" sz="2400" b="1" dirty="0">
                <a:solidFill>
                  <a:schemeClr val="tx1"/>
                </a:solidFill>
              </a:rPr>
              <a:t> </a:t>
            </a:r>
            <a:r>
              <a:rPr lang="el-GR" sz="2400" b="1" dirty="0" err="1">
                <a:solidFill>
                  <a:schemeClr val="tx1"/>
                </a:solidFill>
              </a:rPr>
              <a:t>is</a:t>
            </a:r>
            <a:r>
              <a:rPr lang="el-GR" sz="2400" b="1" dirty="0">
                <a:solidFill>
                  <a:schemeClr val="tx1"/>
                </a:solidFill>
              </a:rPr>
              <a:t> </a:t>
            </a:r>
            <a:r>
              <a:rPr lang="el-GR" sz="2400" b="1" dirty="0" err="1">
                <a:solidFill>
                  <a:schemeClr val="tx1"/>
                </a:solidFill>
              </a:rPr>
              <a:t>at</a:t>
            </a:r>
            <a:r>
              <a:rPr lang="el-GR" sz="2400" b="1" dirty="0">
                <a:solidFill>
                  <a:schemeClr val="tx1"/>
                </a:solidFill>
              </a:rPr>
              <a:t> </a:t>
            </a:r>
            <a:r>
              <a:rPr lang="el-GR" sz="2400" b="1" dirty="0" err="1">
                <a:solidFill>
                  <a:schemeClr val="tx1"/>
                </a:solidFill>
              </a:rPr>
              <a:t>least</a:t>
            </a:r>
            <a:r>
              <a:rPr lang="el-GR" sz="2400" b="1" dirty="0">
                <a:solidFill>
                  <a:schemeClr val="tx1"/>
                </a:solidFill>
              </a:rPr>
              <a:t> 5</a:t>
            </a:r>
            <a:r>
              <a:rPr lang="el-GR" sz="2400" dirty="0">
                <a:solidFill>
                  <a:schemeClr val="tx1"/>
                </a:solidFill>
              </a:rPr>
              <a:t>:</a:t>
            </a:r>
          </a:p>
          <a:p>
            <a:pPr lvl="2"/>
            <a:r>
              <a:rPr lang="el-GR" sz="2400" b="1" dirty="0" err="1">
                <a:solidFill>
                  <a:schemeClr val="tx1"/>
                </a:solidFill>
              </a:rPr>
              <a:t>Final</a:t>
            </a:r>
            <a:r>
              <a:rPr lang="el-GR" sz="2400" b="1" dirty="0">
                <a:solidFill>
                  <a:schemeClr val="tx1"/>
                </a:solidFill>
              </a:rPr>
              <a:t> </a:t>
            </a:r>
            <a:r>
              <a:rPr lang="el-GR" sz="2400" b="1" dirty="0" err="1">
                <a:solidFill>
                  <a:schemeClr val="tx1"/>
                </a:solidFill>
              </a:rPr>
              <a:t>Grade</a:t>
            </a:r>
            <a:r>
              <a:rPr lang="el-GR" sz="2400" b="1" dirty="0">
                <a:solidFill>
                  <a:schemeClr val="tx1"/>
                </a:solidFill>
              </a:rPr>
              <a:t> = 0.</a:t>
            </a:r>
            <a:r>
              <a:rPr lang="en-US" sz="2400" b="1" dirty="0"/>
              <a:t>80</a:t>
            </a:r>
            <a:r>
              <a:rPr lang="el-GR" sz="2400" b="1" dirty="0">
                <a:solidFill>
                  <a:schemeClr val="tx1"/>
                </a:solidFill>
              </a:rPr>
              <a:t> × </a:t>
            </a:r>
            <a:r>
              <a:rPr lang="el-GR" sz="2400" b="1" dirty="0" err="1">
                <a:solidFill>
                  <a:schemeClr val="tx1"/>
                </a:solidFill>
              </a:rPr>
              <a:t>Exam</a:t>
            </a:r>
            <a:r>
              <a:rPr lang="el-GR" sz="2400" b="1" dirty="0">
                <a:solidFill>
                  <a:schemeClr val="tx1"/>
                </a:solidFill>
              </a:rPr>
              <a:t> </a:t>
            </a:r>
            <a:r>
              <a:rPr lang="el-GR" sz="2400" b="1" dirty="0" err="1">
                <a:solidFill>
                  <a:schemeClr val="tx1"/>
                </a:solidFill>
              </a:rPr>
              <a:t>Grade</a:t>
            </a:r>
            <a:r>
              <a:rPr lang="el-GR" sz="2400" b="1" dirty="0">
                <a:solidFill>
                  <a:schemeClr val="tx1"/>
                </a:solidFill>
              </a:rPr>
              <a:t> + 0.</a:t>
            </a:r>
            <a:r>
              <a:rPr lang="en-US" sz="2400" b="1" dirty="0">
                <a:solidFill>
                  <a:schemeClr val="tx1"/>
                </a:solidFill>
              </a:rPr>
              <a:t>20</a:t>
            </a:r>
            <a:r>
              <a:rPr lang="el-GR" sz="2400" b="1" dirty="0">
                <a:solidFill>
                  <a:schemeClr val="tx1"/>
                </a:solidFill>
              </a:rPr>
              <a:t> × Project </a:t>
            </a:r>
            <a:r>
              <a:rPr lang="el-GR" sz="2400" b="1" dirty="0" err="1">
                <a:solidFill>
                  <a:schemeClr val="tx1"/>
                </a:solidFill>
              </a:rPr>
              <a:t>Grade</a:t>
            </a:r>
            <a:endParaRPr lang="el-GR" sz="2400" dirty="0">
              <a:solidFill>
                <a:schemeClr val="tx1"/>
              </a:solidFill>
            </a:endParaRPr>
          </a:p>
          <a:p>
            <a:pPr lvl="1"/>
            <a:r>
              <a:rPr lang="el-GR" sz="2400" dirty="0" err="1">
                <a:solidFill>
                  <a:schemeClr val="tx1"/>
                </a:solidFill>
              </a:rPr>
              <a:t>If</a:t>
            </a:r>
            <a:r>
              <a:rPr lang="el-GR" sz="2400" dirty="0">
                <a:solidFill>
                  <a:schemeClr val="tx1"/>
                </a:solidFill>
              </a:rPr>
              <a:t> the </a:t>
            </a:r>
            <a:r>
              <a:rPr lang="el-GR" sz="2400" b="1" dirty="0" err="1">
                <a:solidFill>
                  <a:schemeClr val="tx1"/>
                </a:solidFill>
              </a:rPr>
              <a:t>exam</a:t>
            </a:r>
            <a:r>
              <a:rPr lang="el-GR" sz="2400" b="1" dirty="0">
                <a:solidFill>
                  <a:schemeClr val="tx1"/>
                </a:solidFill>
              </a:rPr>
              <a:t> </a:t>
            </a:r>
            <a:r>
              <a:rPr lang="el-GR" sz="2400" b="1" dirty="0" err="1">
                <a:solidFill>
                  <a:schemeClr val="tx1"/>
                </a:solidFill>
              </a:rPr>
              <a:t>grade</a:t>
            </a:r>
            <a:r>
              <a:rPr lang="el-GR" sz="2400" b="1" dirty="0">
                <a:solidFill>
                  <a:schemeClr val="tx1"/>
                </a:solidFill>
              </a:rPr>
              <a:t> </a:t>
            </a:r>
            <a:r>
              <a:rPr lang="el-GR" sz="2400" b="1" dirty="0" err="1">
                <a:solidFill>
                  <a:schemeClr val="tx1"/>
                </a:solidFill>
              </a:rPr>
              <a:t>is</a:t>
            </a:r>
            <a:r>
              <a:rPr lang="el-GR" sz="2400" b="1" dirty="0">
                <a:solidFill>
                  <a:schemeClr val="tx1"/>
                </a:solidFill>
              </a:rPr>
              <a:t> </a:t>
            </a:r>
            <a:r>
              <a:rPr lang="el-GR" sz="2400" b="1" dirty="0" err="1">
                <a:solidFill>
                  <a:schemeClr val="tx1"/>
                </a:solidFill>
              </a:rPr>
              <a:t>below</a:t>
            </a:r>
            <a:r>
              <a:rPr lang="el-GR" sz="2400" b="1" dirty="0">
                <a:solidFill>
                  <a:schemeClr val="tx1"/>
                </a:solidFill>
              </a:rPr>
              <a:t> 5</a:t>
            </a:r>
            <a:r>
              <a:rPr lang="el-GR" sz="2400" dirty="0">
                <a:solidFill>
                  <a:schemeClr val="tx1"/>
                </a:solidFill>
              </a:rPr>
              <a:t>:</a:t>
            </a:r>
          </a:p>
          <a:p>
            <a:pPr lvl="2"/>
            <a:r>
              <a:rPr lang="el-GR" sz="2400" b="1" dirty="0" err="1">
                <a:solidFill>
                  <a:schemeClr val="tx1"/>
                </a:solidFill>
              </a:rPr>
              <a:t>Final</a:t>
            </a:r>
            <a:r>
              <a:rPr lang="el-GR" sz="2400" b="1" dirty="0">
                <a:solidFill>
                  <a:schemeClr val="tx1"/>
                </a:solidFill>
              </a:rPr>
              <a:t> </a:t>
            </a:r>
            <a:r>
              <a:rPr lang="el-GR" sz="2400" b="1" dirty="0" err="1">
                <a:solidFill>
                  <a:schemeClr val="tx1"/>
                </a:solidFill>
              </a:rPr>
              <a:t>Grade</a:t>
            </a:r>
            <a:r>
              <a:rPr lang="el-GR" sz="2400" b="1" dirty="0">
                <a:solidFill>
                  <a:schemeClr val="tx1"/>
                </a:solidFill>
              </a:rPr>
              <a:t> = </a:t>
            </a:r>
            <a:r>
              <a:rPr lang="el-GR" sz="2400" b="1" dirty="0" err="1">
                <a:solidFill>
                  <a:schemeClr val="tx1"/>
                </a:solidFill>
              </a:rPr>
              <a:t>min</a:t>
            </a:r>
            <a:r>
              <a:rPr lang="el-GR" sz="2400" b="1" dirty="0">
                <a:solidFill>
                  <a:schemeClr val="tx1"/>
                </a:solidFill>
              </a:rPr>
              <a:t>(</a:t>
            </a:r>
            <a:r>
              <a:rPr lang="el-GR" sz="2400" b="1" dirty="0" err="1">
                <a:solidFill>
                  <a:schemeClr val="tx1"/>
                </a:solidFill>
              </a:rPr>
              <a:t>Exam</a:t>
            </a:r>
            <a:r>
              <a:rPr lang="el-GR" sz="2400" b="1" dirty="0">
                <a:solidFill>
                  <a:schemeClr val="tx1"/>
                </a:solidFill>
              </a:rPr>
              <a:t> </a:t>
            </a:r>
            <a:r>
              <a:rPr lang="el-GR" sz="2400" b="1" dirty="0" err="1">
                <a:solidFill>
                  <a:schemeClr val="tx1"/>
                </a:solidFill>
              </a:rPr>
              <a:t>Grade</a:t>
            </a:r>
            <a:r>
              <a:rPr lang="el-GR" sz="2400" b="1" dirty="0">
                <a:solidFill>
                  <a:schemeClr val="tx1"/>
                </a:solidFill>
              </a:rPr>
              <a:t>, Project </a:t>
            </a:r>
            <a:r>
              <a:rPr lang="el-GR" sz="2400" b="1" dirty="0" err="1">
                <a:solidFill>
                  <a:schemeClr val="tx1"/>
                </a:solidFill>
              </a:rPr>
              <a:t>Grade</a:t>
            </a:r>
            <a:r>
              <a:rPr lang="el-GR" sz="2400" b="1" dirty="0">
                <a:solidFill>
                  <a:schemeClr val="tx1"/>
                </a:solidFill>
              </a:rPr>
              <a:t>)</a:t>
            </a:r>
            <a:endParaRPr lang="el-GR" sz="2400" dirty="0">
              <a:solidFill>
                <a:schemeClr val="tx1"/>
              </a:solidFill>
            </a:endParaRPr>
          </a:p>
          <a:p>
            <a:endParaRPr lang="el-G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Code</a:t>
            </a:r>
            <a:endParaRPr lang="el-GR" dirty="0"/>
          </a:p>
        </p:txBody>
      </p:sp>
      <p:sp>
        <p:nvSpPr>
          <p:cNvPr id="3" name="Rectangle 2"/>
          <p:cNvSpPr/>
          <p:nvPr/>
        </p:nvSpPr>
        <p:spPr>
          <a:xfrm>
            <a:off x="457200" y="2590800"/>
            <a:ext cx="81534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The total cost of owning a mess:</a:t>
            </a:r>
          </a:p>
          <a:p>
            <a:endParaRPr lang="en-US" dirty="0"/>
          </a:p>
          <a:p>
            <a:r>
              <a:rPr lang="en-US" dirty="0"/>
              <a:t>Over the span of a year or two, teams that were </a:t>
            </a:r>
            <a:r>
              <a:rPr lang="en-US" dirty="0">
                <a:solidFill>
                  <a:srgbClr val="FF0000"/>
                </a:solidFill>
              </a:rPr>
              <a:t>moving very fast at the beginning </a:t>
            </a:r>
            <a:r>
              <a:rPr lang="en-US" dirty="0"/>
              <a:t>of a project can find themselves </a:t>
            </a:r>
            <a:r>
              <a:rPr lang="en-US" dirty="0">
                <a:solidFill>
                  <a:srgbClr val="FF0000"/>
                </a:solidFill>
              </a:rPr>
              <a:t>moving at a snail’s </a:t>
            </a:r>
            <a:r>
              <a:rPr lang="fr-FR" dirty="0">
                <a:solidFill>
                  <a:srgbClr val="FF0000"/>
                </a:solidFill>
              </a:rPr>
              <a:t>pace</a:t>
            </a:r>
            <a:r>
              <a:rPr lang="fr-FR" dirty="0"/>
              <a:t>.</a:t>
            </a:r>
          </a:p>
          <a:p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As the mess builds</a:t>
            </a:r>
            <a:r>
              <a:rPr lang="en-US" dirty="0"/>
              <a:t>, the productivity of the team </a:t>
            </a:r>
            <a:r>
              <a:rPr lang="en-US" dirty="0">
                <a:solidFill>
                  <a:srgbClr val="FF0000"/>
                </a:solidFill>
              </a:rPr>
              <a:t>continues to decrease</a:t>
            </a:r>
            <a:r>
              <a:rPr lang="en-US" dirty="0"/>
              <a:t>, asymptotically</a:t>
            </a:r>
          </a:p>
          <a:p>
            <a:pPr algn="just"/>
            <a:r>
              <a:rPr lang="en-US" dirty="0"/>
              <a:t>approaching zero.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685800"/>
            <a:ext cx="4248150" cy="1857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Code</a:t>
            </a:r>
            <a:endParaRPr lang="el-GR" dirty="0"/>
          </a:p>
        </p:txBody>
      </p:sp>
      <p:sp>
        <p:nvSpPr>
          <p:cNvPr id="3" name="Rectangle 2"/>
          <p:cNvSpPr/>
          <p:nvPr/>
        </p:nvSpPr>
        <p:spPr>
          <a:xfrm>
            <a:off x="457200" y="2590800"/>
            <a:ext cx="81534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70C0"/>
                </a:solidFill>
              </a:rPr>
              <a:t>A managerial solution: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sz="2000" dirty="0"/>
              <a:t>As </a:t>
            </a:r>
            <a:r>
              <a:rPr lang="en-US" sz="2000" dirty="0">
                <a:solidFill>
                  <a:srgbClr val="FF0000"/>
                </a:solidFill>
              </a:rPr>
              <a:t>productivity decreases</a:t>
            </a:r>
            <a:r>
              <a:rPr lang="en-US" sz="2000" dirty="0"/>
              <a:t>, management does the only thing they can; they </a:t>
            </a:r>
            <a:r>
              <a:rPr lang="en-US" sz="2000" dirty="0">
                <a:solidFill>
                  <a:srgbClr val="FF0000"/>
                </a:solidFill>
              </a:rPr>
              <a:t>add more staff to the project </a:t>
            </a:r>
            <a:r>
              <a:rPr lang="en-US" sz="2000" dirty="0"/>
              <a:t>in hopes of increasing productivity.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But that </a:t>
            </a:r>
            <a:r>
              <a:rPr lang="en-US" sz="2000" dirty="0">
                <a:solidFill>
                  <a:srgbClr val="FF0000"/>
                </a:solidFill>
              </a:rPr>
              <a:t>new staff is not versed in the design of the system</a:t>
            </a:r>
            <a:r>
              <a:rPr lang="en-US" sz="2000" dirty="0"/>
              <a:t>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They, and everyone else on the team, are under horrific </a:t>
            </a:r>
            <a:r>
              <a:rPr lang="en-US" sz="2000" b="1" dirty="0">
                <a:solidFill>
                  <a:srgbClr val="FF0000"/>
                </a:solidFill>
              </a:rPr>
              <a:t>pressure to increase productivity</a:t>
            </a:r>
            <a:r>
              <a:rPr lang="en-US" sz="2000" b="1" dirty="0"/>
              <a:t>.</a:t>
            </a:r>
            <a:r>
              <a:rPr lang="en-US" sz="2000" dirty="0"/>
              <a:t>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So they all make </a:t>
            </a:r>
            <a:r>
              <a:rPr lang="en-US" sz="2000" dirty="0">
                <a:solidFill>
                  <a:srgbClr val="FF0000"/>
                </a:solidFill>
              </a:rPr>
              <a:t>more and more messes (!!!!!)</a:t>
            </a:r>
            <a:r>
              <a:rPr lang="en-US" sz="2000" dirty="0"/>
              <a:t>, driving the productivity ever further toward zero.</a:t>
            </a:r>
            <a:endParaRPr lang="el-GR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685800"/>
            <a:ext cx="4248150" cy="1857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Code</a:t>
            </a:r>
            <a:endParaRPr lang="el-GR" dirty="0"/>
          </a:p>
        </p:txBody>
      </p:sp>
      <p:sp>
        <p:nvSpPr>
          <p:cNvPr id="3" name="Rectangle 2"/>
          <p:cNvSpPr/>
          <p:nvPr/>
        </p:nvSpPr>
        <p:spPr>
          <a:xfrm>
            <a:off x="381000" y="2362200"/>
            <a:ext cx="85344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70C0"/>
                </a:solidFill>
              </a:rPr>
              <a:t>A technical solution: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  <a:p>
            <a:pPr algn="just"/>
            <a:endParaRPr lang="en-US" sz="2400" dirty="0">
              <a:solidFill>
                <a:srgbClr val="FF0000"/>
              </a:solidFill>
            </a:endParaRPr>
          </a:p>
          <a:p>
            <a:pPr algn="just"/>
            <a:r>
              <a:rPr lang="en-US" sz="2000" dirty="0"/>
              <a:t>Eventually the team rebels. They demand a </a:t>
            </a:r>
            <a:r>
              <a:rPr lang="en-US" sz="2000" dirty="0">
                <a:solidFill>
                  <a:srgbClr val="FF0000"/>
                </a:solidFill>
              </a:rPr>
              <a:t>redesign</a:t>
            </a:r>
            <a:r>
              <a:rPr lang="en-US" sz="2000" dirty="0"/>
              <a:t>.  Management eventually bend to the demands of the developers and authorize the grand redesign in the sky.</a:t>
            </a:r>
          </a:p>
          <a:p>
            <a:endParaRPr lang="en-US" sz="2000" dirty="0"/>
          </a:p>
          <a:p>
            <a:pPr algn="just"/>
            <a:r>
              <a:rPr lang="en-US" sz="2000" dirty="0"/>
              <a:t>A </a:t>
            </a:r>
            <a:r>
              <a:rPr lang="en-US" sz="2000" dirty="0">
                <a:solidFill>
                  <a:srgbClr val="FF0000"/>
                </a:solidFill>
              </a:rPr>
              <a:t>new tiger team </a:t>
            </a:r>
            <a:r>
              <a:rPr lang="en-US" sz="2000" dirty="0"/>
              <a:t>is selected. Everyone else must continue to maintain the </a:t>
            </a:r>
            <a:r>
              <a:rPr lang="fr-FR" sz="2000" dirty="0" err="1"/>
              <a:t>current</a:t>
            </a:r>
            <a:r>
              <a:rPr lang="fr-FR" sz="2000" dirty="0"/>
              <a:t> system.</a:t>
            </a:r>
          </a:p>
          <a:p>
            <a:endParaRPr lang="fr-FR" sz="2000" dirty="0"/>
          </a:p>
          <a:p>
            <a:pPr algn="just"/>
            <a:r>
              <a:rPr lang="en-US" sz="2000" b="1" dirty="0">
                <a:solidFill>
                  <a:srgbClr val="FF0000"/>
                </a:solidFill>
              </a:rPr>
              <a:t>Would that work ??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685800"/>
            <a:ext cx="4248150" cy="1857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Code</a:t>
            </a:r>
            <a:endParaRPr lang="el-GR" dirty="0"/>
          </a:p>
        </p:txBody>
      </p:sp>
      <p:sp>
        <p:nvSpPr>
          <p:cNvPr id="3" name="Rectangle 2"/>
          <p:cNvSpPr/>
          <p:nvPr/>
        </p:nvSpPr>
        <p:spPr>
          <a:xfrm>
            <a:off x="381000" y="2362200"/>
            <a:ext cx="85344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70C0"/>
                </a:solidFill>
              </a:rPr>
              <a:t>A technical solution: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  <a:p>
            <a:endParaRPr lang="fr-FR" dirty="0"/>
          </a:p>
          <a:p>
            <a:pPr algn="just"/>
            <a:r>
              <a:rPr lang="en-US" sz="2000" dirty="0"/>
              <a:t>Now the </a:t>
            </a:r>
            <a:r>
              <a:rPr lang="en-US" sz="2000" dirty="0">
                <a:solidFill>
                  <a:srgbClr val="FF0000"/>
                </a:solidFill>
              </a:rPr>
              <a:t>two teams are in a race</a:t>
            </a:r>
            <a:r>
              <a:rPr lang="en-US" sz="2000" dirty="0"/>
              <a:t>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 tiger team must </a:t>
            </a:r>
            <a:r>
              <a:rPr lang="en-US" sz="2000" dirty="0">
                <a:solidFill>
                  <a:srgbClr val="FF0000"/>
                </a:solidFill>
              </a:rPr>
              <a:t>build a new system</a:t>
            </a:r>
            <a:r>
              <a:rPr lang="en-US" sz="2000" dirty="0"/>
              <a:t> that does everything that the old system does.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Not only that, they have to </a:t>
            </a:r>
            <a:r>
              <a:rPr lang="en-US" sz="2000" dirty="0">
                <a:solidFill>
                  <a:srgbClr val="FF0000"/>
                </a:solidFill>
              </a:rPr>
              <a:t>keep up with the changes </a:t>
            </a:r>
            <a:r>
              <a:rPr lang="en-US" sz="2000" dirty="0"/>
              <a:t>that are continuously being made to the old system !!!!</a:t>
            </a:r>
          </a:p>
          <a:p>
            <a:endParaRPr lang="en-US" sz="2000" dirty="0"/>
          </a:p>
          <a:p>
            <a:r>
              <a:rPr lang="en-US" sz="2000" dirty="0"/>
              <a:t>And by the time it’s done, the tiger team members are demanding that the new system be redesigned because </a:t>
            </a:r>
            <a:r>
              <a:rPr lang="en-US" sz="2000" dirty="0">
                <a:solidFill>
                  <a:srgbClr val="FF0000"/>
                </a:solidFill>
              </a:rPr>
              <a:t>it’s such a mess !!!!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685800"/>
            <a:ext cx="4248150" cy="1857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Code</a:t>
            </a:r>
            <a:endParaRPr lang="el-GR" dirty="0"/>
          </a:p>
        </p:txBody>
      </p:sp>
      <p:sp>
        <p:nvSpPr>
          <p:cNvPr id="3" name="Rectangle 2"/>
          <p:cNvSpPr/>
          <p:nvPr/>
        </p:nvSpPr>
        <p:spPr>
          <a:xfrm>
            <a:off x="381000" y="2362200"/>
            <a:ext cx="85344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70C0"/>
                </a:solidFill>
              </a:rPr>
              <a:t>The moral: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  <a:p>
            <a:pPr algn="just"/>
            <a:endParaRPr lang="en-US" sz="2400" dirty="0">
              <a:solidFill>
                <a:srgbClr val="FF0000"/>
              </a:solidFill>
            </a:endParaRPr>
          </a:p>
          <a:p>
            <a:r>
              <a:rPr lang="en-US" sz="2000" dirty="0"/>
              <a:t>Spending time </a:t>
            </a:r>
            <a:r>
              <a:rPr lang="en-US" sz="2000" dirty="0">
                <a:solidFill>
                  <a:srgbClr val="FF0000"/>
                </a:solidFill>
              </a:rPr>
              <a:t>keeping your code</a:t>
            </a:r>
            <a:r>
              <a:rPr lang="en-US" sz="2000" dirty="0"/>
              <a:t> clean is not just </a:t>
            </a:r>
            <a:r>
              <a:rPr lang="en-US" sz="2000" dirty="0">
                <a:solidFill>
                  <a:srgbClr val="FF0000"/>
                </a:solidFill>
              </a:rPr>
              <a:t>cost effective</a:t>
            </a:r>
            <a:r>
              <a:rPr lang="en-US" sz="2000" dirty="0"/>
              <a:t>; it’s a matter of </a:t>
            </a:r>
            <a:r>
              <a:rPr lang="en-US" sz="2000" dirty="0">
                <a:solidFill>
                  <a:srgbClr val="FF0000"/>
                </a:solidFill>
              </a:rPr>
              <a:t>professional survival !!!!</a:t>
            </a:r>
          </a:p>
          <a:p>
            <a:pPr algn="just"/>
            <a:endParaRPr lang="en-US" sz="2400" dirty="0">
              <a:solidFill>
                <a:srgbClr val="FF0000"/>
              </a:solidFill>
            </a:endParaRPr>
          </a:p>
          <a:p>
            <a:pPr algn="just"/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685800"/>
            <a:ext cx="4248150" cy="1857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Code</a:t>
            </a:r>
            <a:endParaRPr lang="el-GR" dirty="0"/>
          </a:p>
        </p:txBody>
      </p:sp>
      <p:sp>
        <p:nvSpPr>
          <p:cNvPr id="3" name="Rectangle 2"/>
          <p:cNvSpPr/>
          <p:nvPr/>
        </p:nvSpPr>
        <p:spPr>
          <a:xfrm>
            <a:off x="381000" y="1676400"/>
            <a:ext cx="4953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70C0"/>
                </a:solidFill>
              </a:rPr>
              <a:t>Why does good code turn into bad code ???</a:t>
            </a:r>
          </a:p>
          <a:p>
            <a:pPr algn="just"/>
            <a:endParaRPr lang="en-US" sz="2400" dirty="0">
              <a:solidFill>
                <a:srgbClr val="0070C0"/>
              </a:solidFill>
            </a:endParaRPr>
          </a:p>
          <a:p>
            <a:pPr algn="just"/>
            <a:r>
              <a:rPr lang="en-US" sz="2000" dirty="0"/>
              <a:t>All developers with more than a few years experience know that previous messes slow them down. 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And yet all developers </a:t>
            </a:r>
            <a:r>
              <a:rPr lang="en-US" sz="2000" dirty="0">
                <a:solidFill>
                  <a:srgbClr val="FF0000"/>
                </a:solidFill>
              </a:rPr>
              <a:t>feel the pressure to make messes in order to meet deadlines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!!!</a:t>
            </a:r>
          </a:p>
          <a:p>
            <a:pPr algn="just"/>
            <a:endParaRPr lang="en-US" sz="2000" dirty="0">
              <a:solidFill>
                <a:srgbClr val="FF0000"/>
              </a:solidFill>
            </a:endParaRPr>
          </a:p>
          <a:p>
            <a:r>
              <a:rPr lang="fr-FR" sz="2000" dirty="0"/>
              <a:t>In practice, …. </a:t>
            </a:r>
            <a:r>
              <a:rPr lang="en-US" sz="2000" dirty="0">
                <a:solidFill>
                  <a:srgbClr val="FF0000"/>
                </a:solidFill>
              </a:rPr>
              <a:t>the mess will slow you down instantly</a:t>
            </a:r>
            <a:r>
              <a:rPr lang="en-US" sz="2000" dirty="0"/>
              <a:t>, and will force you to miss the deadline. The </a:t>
            </a:r>
            <a:r>
              <a:rPr lang="en-US" sz="2000" i="1" dirty="0"/>
              <a:t>only way to make the deadline—the only way to </a:t>
            </a:r>
            <a:r>
              <a:rPr lang="en-US" sz="2000" dirty="0"/>
              <a:t>go fast—is to </a:t>
            </a:r>
            <a:r>
              <a:rPr lang="en-US" sz="2000" dirty="0">
                <a:solidFill>
                  <a:srgbClr val="FF0000"/>
                </a:solidFill>
              </a:rPr>
              <a:t>keep the code as clean as possible</a:t>
            </a:r>
            <a:r>
              <a:rPr lang="en-US" sz="2000" dirty="0"/>
              <a:t> at all times.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6" name="Picture 2" descr="https://encrypted-tbn2.gstatic.com/images?q=tbn:ANd9GcSljz_dhcZftjxDiBvcYmczXZrPA8nAbyzFk-gRQ3Fvsgr7u7fz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762000"/>
            <a:ext cx="2057400" cy="27822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4loc.files.wordpress.com/2009/11/lines_of_cod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685799"/>
            <a:ext cx="4038600" cy="571497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Code</a:t>
            </a:r>
            <a:endParaRPr lang="el-GR" dirty="0"/>
          </a:p>
        </p:txBody>
      </p:sp>
      <p:sp>
        <p:nvSpPr>
          <p:cNvPr id="3" name="Rectangle 2"/>
          <p:cNvSpPr/>
          <p:nvPr/>
        </p:nvSpPr>
        <p:spPr>
          <a:xfrm>
            <a:off x="533400" y="1905000"/>
            <a:ext cx="5562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What is clean code ???</a:t>
            </a:r>
          </a:p>
          <a:p>
            <a:pPr algn="just"/>
            <a:endParaRPr lang="en-US" sz="2400" dirty="0">
              <a:solidFill>
                <a:srgbClr val="0070C0"/>
              </a:solidFill>
            </a:endParaRPr>
          </a:p>
          <a:p>
            <a:pPr algn="just"/>
            <a:r>
              <a:rPr lang="en-US" dirty="0"/>
              <a:t> </a:t>
            </a:r>
          </a:p>
          <a:p>
            <a:pPr algn="just"/>
            <a:endParaRPr 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4loc.files.wordpress.com/2009/11/lines_of_cod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685799"/>
            <a:ext cx="4038600" cy="571497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Code</a:t>
            </a:r>
            <a:endParaRPr lang="el-GR" dirty="0"/>
          </a:p>
        </p:txBody>
      </p:sp>
      <p:sp>
        <p:nvSpPr>
          <p:cNvPr id="3" name="Rectangle 2"/>
          <p:cNvSpPr/>
          <p:nvPr/>
        </p:nvSpPr>
        <p:spPr>
          <a:xfrm>
            <a:off x="533400" y="1905000"/>
            <a:ext cx="556260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70C0"/>
                </a:solidFill>
              </a:rPr>
              <a:t>What is clean code ???</a:t>
            </a:r>
          </a:p>
          <a:p>
            <a:pPr algn="just"/>
            <a:endParaRPr lang="en-US" sz="2400" dirty="0">
              <a:solidFill>
                <a:srgbClr val="0070C0"/>
              </a:solidFill>
            </a:endParaRPr>
          </a:p>
          <a:p>
            <a:pPr algn="just"/>
            <a:r>
              <a:rPr lang="en-US" sz="2000" dirty="0"/>
              <a:t>Probably as many definitions as programmers !!!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But, still the baseline is the same,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code is </a:t>
            </a:r>
            <a:r>
              <a:rPr lang="en-US" sz="2000" dirty="0">
                <a:solidFill>
                  <a:srgbClr val="FF0000"/>
                </a:solidFill>
              </a:rPr>
              <a:t>clean</a:t>
            </a:r>
            <a:r>
              <a:rPr lang="en-US" sz="2000" dirty="0"/>
              <a:t> if its can be </a:t>
            </a:r>
            <a:r>
              <a:rPr lang="en-US" sz="2000" dirty="0">
                <a:solidFill>
                  <a:srgbClr val="FF0000"/>
                </a:solidFill>
              </a:rPr>
              <a:t>easily understood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0000"/>
                </a:solidFill>
              </a:rPr>
              <a:t>tested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00"/>
                </a:solidFill>
              </a:rPr>
              <a:t>maintained</a:t>
            </a:r>
            <a:r>
              <a:rPr lang="en-US" sz="2000" dirty="0"/>
              <a:t>….</a:t>
            </a:r>
          </a:p>
          <a:p>
            <a:pPr algn="just"/>
            <a:r>
              <a:rPr lang="en-US" sz="2000" dirty="0"/>
              <a:t> </a:t>
            </a:r>
          </a:p>
          <a:p>
            <a:pPr algn="just"/>
            <a:endParaRPr 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Code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838200" y="3200400"/>
            <a:ext cx="5029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Grady </a:t>
            </a:r>
            <a:r>
              <a:rPr lang="en-US" b="1" dirty="0" err="1"/>
              <a:t>Booch</a:t>
            </a:r>
            <a:r>
              <a:rPr lang="en-US" b="1" dirty="0"/>
              <a:t>, author of </a:t>
            </a:r>
            <a:r>
              <a:rPr lang="en-US" b="1" i="1" dirty="0"/>
              <a:t>Object Oriented Analysis and Design with </a:t>
            </a:r>
            <a:r>
              <a:rPr lang="fr-FR" b="1" i="1" dirty="0"/>
              <a:t>Applications</a:t>
            </a:r>
          </a:p>
          <a:p>
            <a:endParaRPr lang="fr-FR" b="1" i="1" dirty="0"/>
          </a:p>
          <a:p>
            <a:pPr algn="just"/>
            <a:r>
              <a:rPr lang="en-US" i="1" dirty="0"/>
              <a:t>Clean code is </a:t>
            </a:r>
            <a:r>
              <a:rPr lang="en-US" i="1" dirty="0">
                <a:solidFill>
                  <a:srgbClr val="FF0000"/>
                </a:solidFill>
              </a:rPr>
              <a:t>simple</a:t>
            </a:r>
            <a:r>
              <a:rPr lang="en-US" i="1" dirty="0"/>
              <a:t> and </a:t>
            </a:r>
            <a:r>
              <a:rPr lang="en-US" i="1" dirty="0">
                <a:solidFill>
                  <a:srgbClr val="FF0000"/>
                </a:solidFill>
              </a:rPr>
              <a:t>direct</a:t>
            </a:r>
            <a:r>
              <a:rPr lang="en-US" i="1" dirty="0"/>
              <a:t>. Clean code </a:t>
            </a:r>
            <a:r>
              <a:rPr lang="en-US" b="1" i="1" dirty="0">
                <a:solidFill>
                  <a:srgbClr val="FF0000"/>
                </a:solidFill>
              </a:rPr>
              <a:t>reads</a:t>
            </a:r>
            <a:r>
              <a:rPr lang="en-US" i="1" dirty="0"/>
              <a:t> like </a:t>
            </a:r>
            <a:r>
              <a:rPr lang="en-US" i="1" dirty="0">
                <a:solidFill>
                  <a:srgbClr val="FF0000"/>
                </a:solidFill>
              </a:rPr>
              <a:t>well-written</a:t>
            </a:r>
            <a:r>
              <a:rPr lang="en-US" i="1" dirty="0"/>
              <a:t> prose….</a:t>
            </a:r>
            <a:endParaRPr lang="el-GR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1143000"/>
            <a:ext cx="2037378" cy="1884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Code</a:t>
            </a:r>
            <a:endParaRPr lang="el-GR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05500" y="1219200"/>
            <a:ext cx="1638300" cy="1878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990600" y="2430482"/>
            <a:ext cx="5486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Bjarne</a:t>
            </a:r>
            <a:r>
              <a:rPr lang="en-US" b="1" dirty="0"/>
              <a:t> </a:t>
            </a:r>
            <a:r>
              <a:rPr lang="en-US" b="1" dirty="0" err="1"/>
              <a:t>Stroustrup</a:t>
            </a:r>
            <a:r>
              <a:rPr lang="en-US" b="1" dirty="0"/>
              <a:t>, inventor of C++ and author of </a:t>
            </a:r>
            <a:r>
              <a:rPr lang="en-US" b="1" i="1" dirty="0"/>
              <a:t>The C++ Programming </a:t>
            </a:r>
            <a:r>
              <a:rPr lang="fr-FR" b="1" i="1" dirty="0" err="1"/>
              <a:t>Language</a:t>
            </a:r>
            <a:endParaRPr lang="fr-FR" b="1" i="1" dirty="0"/>
          </a:p>
          <a:p>
            <a:pPr algn="just"/>
            <a:endParaRPr lang="en-US" i="1" dirty="0"/>
          </a:p>
          <a:p>
            <a:pPr algn="just"/>
            <a:r>
              <a:rPr lang="en-US" i="1" dirty="0">
                <a:solidFill>
                  <a:srgbClr val="FF0000"/>
                </a:solidFill>
              </a:rPr>
              <a:t>…elegant</a:t>
            </a:r>
            <a:r>
              <a:rPr lang="en-US" i="1" dirty="0"/>
              <a:t> and </a:t>
            </a:r>
            <a:r>
              <a:rPr lang="en-US" i="1" dirty="0">
                <a:solidFill>
                  <a:srgbClr val="FF0000"/>
                </a:solidFill>
              </a:rPr>
              <a:t>efficient</a:t>
            </a:r>
            <a:r>
              <a:rPr lang="en-US" i="1" dirty="0"/>
              <a:t>. </a:t>
            </a:r>
          </a:p>
          <a:p>
            <a:pPr algn="just"/>
            <a:endParaRPr lang="en-US" i="1" dirty="0"/>
          </a:p>
          <a:p>
            <a:pPr algn="just"/>
            <a:r>
              <a:rPr lang="en-US" i="1" dirty="0"/>
              <a:t>The </a:t>
            </a:r>
            <a:r>
              <a:rPr lang="en-US" i="1" dirty="0">
                <a:solidFill>
                  <a:srgbClr val="FF0000"/>
                </a:solidFill>
              </a:rPr>
              <a:t>logic</a:t>
            </a:r>
            <a:r>
              <a:rPr lang="en-US" i="1" dirty="0"/>
              <a:t> should be </a:t>
            </a:r>
            <a:r>
              <a:rPr lang="en-US" i="1" dirty="0">
                <a:solidFill>
                  <a:srgbClr val="FF0000"/>
                </a:solidFill>
              </a:rPr>
              <a:t>straightforward</a:t>
            </a:r>
            <a:r>
              <a:rPr lang="en-US" i="1" dirty="0"/>
              <a:t> to make it hard for bugs to hide, </a:t>
            </a:r>
          </a:p>
          <a:p>
            <a:pPr algn="just"/>
            <a:endParaRPr lang="en-US" i="1" dirty="0"/>
          </a:p>
          <a:p>
            <a:pPr algn="just"/>
            <a:r>
              <a:rPr lang="en-US" i="1" dirty="0"/>
              <a:t>the </a:t>
            </a:r>
            <a:r>
              <a:rPr lang="en-US" i="1" dirty="0">
                <a:solidFill>
                  <a:srgbClr val="FF0000"/>
                </a:solidFill>
              </a:rPr>
              <a:t>dependencies</a:t>
            </a:r>
            <a:r>
              <a:rPr lang="en-US" i="1" u="sng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minimal</a:t>
            </a:r>
            <a:r>
              <a:rPr lang="en-US" i="1" u="sng" dirty="0">
                <a:solidFill>
                  <a:srgbClr val="FF0000"/>
                </a:solidFill>
              </a:rPr>
              <a:t> </a:t>
            </a:r>
            <a:r>
              <a:rPr lang="en-US" i="1" dirty="0"/>
              <a:t>to ease maintenance, error handling complete according to an articulated strategy, and </a:t>
            </a:r>
            <a:r>
              <a:rPr lang="en-US" i="1" dirty="0">
                <a:solidFill>
                  <a:srgbClr val="FF0000"/>
                </a:solidFill>
              </a:rPr>
              <a:t>performance</a:t>
            </a:r>
            <a:r>
              <a:rPr lang="en-US" i="1" dirty="0"/>
              <a:t> close to optimal so as not to tempt people to make the code messy with unprincipled optimizations. </a:t>
            </a:r>
          </a:p>
          <a:p>
            <a:pPr algn="just"/>
            <a:endParaRPr lang="en-US" i="1" dirty="0"/>
          </a:p>
          <a:p>
            <a:pPr algn="just"/>
            <a:r>
              <a:rPr lang="en-US" i="1" dirty="0"/>
              <a:t>Clean code </a:t>
            </a:r>
            <a:r>
              <a:rPr lang="en-US" i="1" dirty="0">
                <a:solidFill>
                  <a:srgbClr val="FF0000"/>
                </a:solidFill>
              </a:rPr>
              <a:t>does one thing </a:t>
            </a:r>
            <a:r>
              <a:rPr lang="fr-FR" i="1" dirty="0" err="1"/>
              <a:t>well</a:t>
            </a:r>
            <a:r>
              <a:rPr lang="fr-FR" i="1" dirty="0"/>
              <a:t>.</a:t>
            </a:r>
            <a:endParaRPr lang="el-G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Code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762000" y="2286000"/>
            <a:ext cx="6096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/>
              <a:t>Dave Thomas, </a:t>
            </a:r>
            <a:r>
              <a:rPr lang="en-US" b="1" dirty="0"/>
              <a:t>godfather of the</a:t>
            </a:r>
          </a:p>
          <a:p>
            <a:r>
              <a:rPr lang="fr-FR" b="1" dirty="0"/>
              <a:t>Eclipse </a:t>
            </a:r>
            <a:r>
              <a:rPr lang="fr-FR" b="1" dirty="0" err="1"/>
              <a:t>strategy</a:t>
            </a:r>
            <a:endParaRPr lang="fr-FR" b="1" dirty="0"/>
          </a:p>
          <a:p>
            <a:endParaRPr lang="fr-FR" b="1" dirty="0"/>
          </a:p>
          <a:p>
            <a:r>
              <a:rPr lang="en-US" i="1" dirty="0"/>
              <a:t>Clean code can be </a:t>
            </a:r>
            <a:r>
              <a:rPr lang="en-US" b="1" i="1" dirty="0">
                <a:solidFill>
                  <a:srgbClr val="FF0000"/>
                </a:solidFill>
              </a:rPr>
              <a:t>read</a:t>
            </a:r>
            <a:r>
              <a:rPr lang="en-US" i="1" dirty="0"/>
              <a:t>, and </a:t>
            </a:r>
            <a:r>
              <a:rPr lang="en-US" i="1" dirty="0">
                <a:solidFill>
                  <a:srgbClr val="FF0000"/>
                </a:solidFill>
              </a:rPr>
              <a:t>enhanced</a:t>
            </a:r>
            <a:r>
              <a:rPr lang="en-US" i="1" dirty="0"/>
              <a:t> by a </a:t>
            </a:r>
            <a:r>
              <a:rPr lang="en-US" b="1" i="1" dirty="0">
                <a:solidFill>
                  <a:srgbClr val="FF0000"/>
                </a:solidFill>
              </a:rPr>
              <a:t>developer other than its original author</a:t>
            </a:r>
            <a:r>
              <a:rPr lang="en-US" i="1" dirty="0"/>
              <a:t>. </a:t>
            </a:r>
          </a:p>
          <a:p>
            <a:endParaRPr lang="en-US" i="1" dirty="0"/>
          </a:p>
          <a:p>
            <a:r>
              <a:rPr lang="en-US" i="1" dirty="0"/>
              <a:t>It has unit and acceptance </a:t>
            </a:r>
            <a:r>
              <a:rPr lang="en-US" i="1" dirty="0">
                <a:solidFill>
                  <a:srgbClr val="FF0000"/>
                </a:solidFill>
              </a:rPr>
              <a:t>tests</a:t>
            </a:r>
            <a:r>
              <a:rPr lang="en-US" i="1" dirty="0"/>
              <a:t>. </a:t>
            </a:r>
            <a:endParaRPr lang="el-GR" i="1" dirty="0"/>
          </a:p>
          <a:p>
            <a:endParaRPr lang="el-GR" i="1" dirty="0"/>
          </a:p>
          <a:p>
            <a:r>
              <a:rPr lang="en-US" i="1" dirty="0"/>
              <a:t>It has </a:t>
            </a:r>
            <a:r>
              <a:rPr lang="en-US" i="1" dirty="0">
                <a:solidFill>
                  <a:srgbClr val="FF0000"/>
                </a:solidFill>
              </a:rPr>
              <a:t>meaningful names</a:t>
            </a:r>
            <a:r>
              <a:rPr lang="en-US" i="1" dirty="0"/>
              <a:t>. </a:t>
            </a:r>
          </a:p>
          <a:p>
            <a:endParaRPr lang="en-US" i="1" dirty="0"/>
          </a:p>
          <a:p>
            <a:r>
              <a:rPr lang="en-US" i="1" dirty="0"/>
              <a:t>It provides </a:t>
            </a:r>
            <a:r>
              <a:rPr lang="en-US" i="1" dirty="0">
                <a:solidFill>
                  <a:srgbClr val="FF0000"/>
                </a:solidFill>
              </a:rPr>
              <a:t>one way</a:t>
            </a:r>
            <a:r>
              <a:rPr lang="en-US" i="1" dirty="0"/>
              <a:t> rather than many ways for doing </a:t>
            </a:r>
            <a:r>
              <a:rPr lang="en-US" i="1" dirty="0">
                <a:solidFill>
                  <a:srgbClr val="FF0000"/>
                </a:solidFill>
              </a:rPr>
              <a:t>one thing</a:t>
            </a:r>
            <a:r>
              <a:rPr lang="en-US" i="1" dirty="0"/>
              <a:t>. </a:t>
            </a:r>
          </a:p>
          <a:p>
            <a:endParaRPr lang="en-US" i="1" dirty="0"/>
          </a:p>
          <a:p>
            <a:r>
              <a:rPr lang="en-US" i="1" dirty="0"/>
              <a:t>It has </a:t>
            </a:r>
            <a:r>
              <a:rPr lang="en-US" i="1" dirty="0">
                <a:solidFill>
                  <a:srgbClr val="FF0000"/>
                </a:solidFill>
              </a:rPr>
              <a:t>minimal dependencies</a:t>
            </a:r>
            <a:r>
              <a:rPr lang="en-US" i="1" dirty="0"/>
              <a:t>, which are explicitly defined, and provides a clear and minimal API.….</a:t>
            </a:r>
            <a:endParaRPr lang="el-GR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143000"/>
            <a:ext cx="1638300" cy="1952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Code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1066800" y="3124200"/>
            <a:ext cx="5181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Michael Feathers, author of </a:t>
            </a:r>
            <a:r>
              <a:rPr lang="en-US" b="1" i="1" dirty="0"/>
              <a:t>Working </a:t>
            </a:r>
            <a:r>
              <a:rPr lang="fr-FR" b="1" i="1" dirty="0" err="1"/>
              <a:t>Effectively</a:t>
            </a:r>
            <a:r>
              <a:rPr lang="fr-FR" b="1" i="1" dirty="0"/>
              <a:t> </a:t>
            </a:r>
            <a:r>
              <a:rPr lang="fr-FR" b="1" i="1" dirty="0" err="1"/>
              <a:t>with</a:t>
            </a:r>
            <a:r>
              <a:rPr lang="fr-FR" b="1" i="1" dirty="0"/>
              <a:t> </a:t>
            </a:r>
            <a:r>
              <a:rPr lang="fr-FR" b="1" i="1" dirty="0" err="1"/>
              <a:t>Legacy</a:t>
            </a:r>
            <a:r>
              <a:rPr lang="fr-FR" b="1" i="1" dirty="0"/>
              <a:t> Code</a:t>
            </a:r>
          </a:p>
          <a:p>
            <a:endParaRPr lang="en-US" i="1" dirty="0"/>
          </a:p>
          <a:p>
            <a:pPr algn="just"/>
            <a:r>
              <a:rPr lang="en-US" i="1" dirty="0"/>
              <a:t>….. </a:t>
            </a:r>
            <a:r>
              <a:rPr lang="en-US" i="1" dirty="0">
                <a:solidFill>
                  <a:srgbClr val="FF0000"/>
                </a:solidFill>
              </a:rPr>
              <a:t>Clean code always looks like it was written by someone who cares</a:t>
            </a:r>
            <a:r>
              <a:rPr lang="en-US" i="1" dirty="0"/>
              <a:t>….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990600"/>
            <a:ext cx="173221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Code</a:t>
            </a:r>
            <a:endParaRPr lang="el-GR" dirty="0"/>
          </a:p>
        </p:txBody>
      </p:sp>
      <p:sp>
        <p:nvSpPr>
          <p:cNvPr id="6" name="Rectangle 5"/>
          <p:cNvSpPr/>
          <p:nvPr/>
        </p:nvSpPr>
        <p:spPr>
          <a:xfrm>
            <a:off x="609600" y="2819400"/>
            <a:ext cx="6477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Ron Jeffries, author of </a:t>
            </a:r>
            <a:r>
              <a:rPr lang="en-US" b="1" i="1" dirty="0"/>
              <a:t>Extreme Programming </a:t>
            </a:r>
            <a:r>
              <a:rPr lang="fr-FR" b="1" i="1" dirty="0" err="1"/>
              <a:t>Installed</a:t>
            </a:r>
            <a:r>
              <a:rPr lang="fr-FR" b="1" i="1" dirty="0"/>
              <a:t> and </a:t>
            </a:r>
            <a:r>
              <a:rPr lang="fr-FR" b="1" i="1" dirty="0" err="1"/>
              <a:t>Extreme</a:t>
            </a:r>
            <a:r>
              <a:rPr lang="fr-FR" b="1" i="1" dirty="0"/>
              <a:t> </a:t>
            </a:r>
            <a:r>
              <a:rPr lang="fr-FR" b="1" i="1" dirty="0" err="1"/>
              <a:t>Programming</a:t>
            </a:r>
            <a:r>
              <a:rPr lang="fr-FR" b="1" i="1" dirty="0"/>
              <a:t> </a:t>
            </a:r>
            <a:r>
              <a:rPr lang="fr-FR" b="1" i="1" dirty="0" err="1"/>
              <a:t>Adventures</a:t>
            </a:r>
            <a:r>
              <a:rPr lang="fr-FR" b="1" i="1" dirty="0"/>
              <a:t> in C#</a:t>
            </a:r>
          </a:p>
          <a:p>
            <a:endParaRPr lang="en-US" dirty="0"/>
          </a:p>
          <a:p>
            <a:r>
              <a:rPr lang="en-US" dirty="0"/>
              <a:t>S</a:t>
            </a:r>
            <a:r>
              <a:rPr lang="en-US" i="1" dirty="0"/>
              <a:t>imple code:</a:t>
            </a:r>
          </a:p>
          <a:p>
            <a:r>
              <a:rPr lang="fr-FR" i="1" dirty="0"/>
              <a:t>• </a:t>
            </a:r>
            <a:r>
              <a:rPr lang="fr-FR" i="1" dirty="0" err="1"/>
              <a:t>Runs</a:t>
            </a:r>
            <a:r>
              <a:rPr lang="fr-FR" i="1" dirty="0"/>
              <a:t> </a:t>
            </a:r>
            <a:r>
              <a:rPr lang="fr-FR" i="1" dirty="0">
                <a:solidFill>
                  <a:srgbClr val="FF0000"/>
                </a:solidFill>
              </a:rPr>
              <a:t>all the tests</a:t>
            </a:r>
            <a:r>
              <a:rPr lang="fr-FR" i="1" dirty="0"/>
              <a:t>;</a:t>
            </a:r>
          </a:p>
          <a:p>
            <a:r>
              <a:rPr lang="fr-FR" i="1" dirty="0"/>
              <a:t>• </a:t>
            </a:r>
            <a:r>
              <a:rPr lang="fr-FR" i="1" dirty="0" err="1"/>
              <a:t>Contains</a:t>
            </a:r>
            <a:r>
              <a:rPr lang="fr-FR" i="1" dirty="0"/>
              <a:t> </a:t>
            </a:r>
            <a:r>
              <a:rPr lang="fr-FR" i="1" dirty="0">
                <a:solidFill>
                  <a:srgbClr val="FF0000"/>
                </a:solidFill>
              </a:rPr>
              <a:t>no duplication</a:t>
            </a:r>
            <a:r>
              <a:rPr lang="fr-FR" i="1" dirty="0"/>
              <a:t>;</a:t>
            </a:r>
          </a:p>
          <a:p>
            <a:r>
              <a:rPr lang="en-US" i="1" dirty="0"/>
              <a:t>• Expresses </a:t>
            </a:r>
            <a:r>
              <a:rPr lang="en-US" i="1" dirty="0">
                <a:solidFill>
                  <a:srgbClr val="FF0000"/>
                </a:solidFill>
              </a:rPr>
              <a:t>all the design ideas </a:t>
            </a:r>
            <a:r>
              <a:rPr lang="en-US" i="1" dirty="0"/>
              <a:t>that are in the </a:t>
            </a:r>
            <a:r>
              <a:rPr lang="fr-FR" i="1" dirty="0"/>
              <a:t>system;</a:t>
            </a:r>
          </a:p>
          <a:p>
            <a:r>
              <a:rPr lang="en-US" i="1" dirty="0"/>
              <a:t>• </a:t>
            </a:r>
            <a:r>
              <a:rPr lang="en-US" i="1" dirty="0">
                <a:solidFill>
                  <a:srgbClr val="FF0000"/>
                </a:solidFill>
              </a:rPr>
              <a:t>Minimizes</a:t>
            </a:r>
            <a:r>
              <a:rPr lang="en-US" i="1" dirty="0"/>
              <a:t> the number of </a:t>
            </a:r>
            <a:r>
              <a:rPr lang="en-US" i="1" dirty="0">
                <a:solidFill>
                  <a:srgbClr val="FF0000"/>
                </a:solidFill>
              </a:rPr>
              <a:t>entities</a:t>
            </a:r>
            <a:r>
              <a:rPr lang="en-US" i="1" dirty="0"/>
              <a:t> such as classes, methods, functions, and the like.</a:t>
            </a:r>
            <a:endParaRPr lang="el-GR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914400"/>
            <a:ext cx="1685925" cy="181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Code</a:t>
            </a:r>
            <a:endParaRPr lang="el-GR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990600"/>
            <a:ext cx="1614357" cy="1781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295400" y="2819400"/>
            <a:ext cx="5257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Ward Cunningham, </a:t>
            </a:r>
            <a:r>
              <a:rPr lang="fr-FR" b="1" dirty="0"/>
              <a:t>motive force </a:t>
            </a:r>
            <a:r>
              <a:rPr lang="fr-FR" b="1" dirty="0" err="1"/>
              <a:t>behind</a:t>
            </a:r>
            <a:r>
              <a:rPr lang="fr-FR" b="1" dirty="0"/>
              <a:t> </a:t>
            </a:r>
            <a:r>
              <a:rPr lang="en-US" b="1" dirty="0"/>
              <a:t>Design Patterns.  The godfather of all those who care about code.</a:t>
            </a:r>
          </a:p>
          <a:p>
            <a:endParaRPr lang="en-US" i="1" dirty="0"/>
          </a:p>
          <a:p>
            <a:r>
              <a:rPr lang="en-US" i="1" dirty="0"/>
              <a:t>You know you are working on clean code when </a:t>
            </a:r>
            <a:r>
              <a:rPr lang="en-US" i="1" dirty="0">
                <a:solidFill>
                  <a:srgbClr val="FF0000"/>
                </a:solidFill>
              </a:rPr>
              <a:t>each</a:t>
            </a:r>
          </a:p>
          <a:p>
            <a:r>
              <a:rPr lang="en-US" i="1" dirty="0">
                <a:solidFill>
                  <a:srgbClr val="FF0000"/>
                </a:solidFill>
              </a:rPr>
              <a:t>routine you read</a:t>
            </a:r>
            <a:r>
              <a:rPr lang="en-US" i="1" dirty="0"/>
              <a:t> turns out to be </a:t>
            </a:r>
            <a:r>
              <a:rPr lang="en-US" i="1" dirty="0">
                <a:solidFill>
                  <a:srgbClr val="FF0000"/>
                </a:solidFill>
              </a:rPr>
              <a:t>pretty much what</a:t>
            </a:r>
          </a:p>
          <a:p>
            <a:r>
              <a:rPr lang="en-US" i="1" dirty="0">
                <a:solidFill>
                  <a:srgbClr val="FF0000"/>
                </a:solidFill>
              </a:rPr>
              <a:t>you expected</a:t>
            </a:r>
            <a:r>
              <a:rPr lang="en-US" i="1" dirty="0"/>
              <a:t>….</a:t>
            </a:r>
            <a:endParaRPr lang="el-G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Code</a:t>
            </a:r>
            <a:endParaRPr lang="el-GR" dirty="0"/>
          </a:p>
        </p:txBody>
      </p:sp>
      <p:sp>
        <p:nvSpPr>
          <p:cNvPr id="7" name="Rectangle 6"/>
          <p:cNvSpPr/>
          <p:nvPr/>
        </p:nvSpPr>
        <p:spPr>
          <a:xfrm>
            <a:off x="990600" y="2506682"/>
            <a:ext cx="7086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R. C. Martin, a.k.a. “Uncle Bob”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The next time you write a line of code, remember </a:t>
            </a:r>
            <a:r>
              <a:rPr lang="en-US" dirty="0">
                <a:solidFill>
                  <a:srgbClr val="FF0000"/>
                </a:solidFill>
              </a:rPr>
              <a:t>you are an author</a:t>
            </a:r>
            <a:r>
              <a:rPr lang="en-US" dirty="0"/>
              <a:t>, writing for </a:t>
            </a:r>
            <a:r>
              <a:rPr lang="en-US" dirty="0">
                <a:solidFill>
                  <a:srgbClr val="FF0000"/>
                </a:solidFill>
              </a:rPr>
              <a:t>readers</a:t>
            </a:r>
            <a:r>
              <a:rPr lang="en-US" dirty="0"/>
              <a:t> who will judge your effort.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It’s not enough to write the code well. The code has to be </a:t>
            </a:r>
            <a:r>
              <a:rPr lang="en-US" i="1" dirty="0"/>
              <a:t>kept clean over time. We’ve all </a:t>
            </a:r>
            <a:r>
              <a:rPr lang="en-US" dirty="0"/>
              <a:t>seen code rot and degrade as time passes.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Boy Scouts</a:t>
            </a:r>
            <a:r>
              <a:rPr lang="en-US" dirty="0"/>
              <a:t> have a </a:t>
            </a:r>
            <a:r>
              <a:rPr lang="en-US" dirty="0">
                <a:solidFill>
                  <a:srgbClr val="FF0000"/>
                </a:solidFill>
              </a:rPr>
              <a:t>simple rule </a:t>
            </a:r>
            <a:r>
              <a:rPr lang="en-US" dirty="0"/>
              <a:t>that we can apply to our profession.</a:t>
            </a:r>
          </a:p>
          <a:p>
            <a:pPr algn="just"/>
            <a:endParaRPr lang="en-US" i="1" dirty="0"/>
          </a:p>
          <a:p>
            <a:pPr algn="just"/>
            <a:r>
              <a:rPr lang="en-US" b="1" i="1" dirty="0">
                <a:solidFill>
                  <a:srgbClr val="FF0000"/>
                </a:solidFill>
              </a:rPr>
              <a:t>Leave the campground cleaner than you found it.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1371600"/>
            <a:ext cx="1488316" cy="1721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3273</TotalTime>
  <Words>1305</Words>
  <Application>Microsoft Office PowerPoint</Application>
  <PresentationFormat>Προβολή στην οθόνη (4:3)</PresentationFormat>
  <Paragraphs>193</Paragraphs>
  <Slides>21</Slides>
  <Notes>6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21</vt:i4>
      </vt:variant>
    </vt:vector>
  </HeadingPairs>
  <TitlesOfParts>
    <vt:vector size="27" baseType="lpstr">
      <vt:lpstr>Bookman Old Style</vt:lpstr>
      <vt:lpstr>Calibri</vt:lpstr>
      <vt:lpstr>Gill Sans MT</vt:lpstr>
      <vt:lpstr>Wingdings</vt:lpstr>
      <vt:lpstr>Wingdings 3</vt:lpstr>
      <vt:lpstr>Origin</vt:lpstr>
      <vt:lpstr>Software Development II www.cs.uoi.gr/~zarras/soft-devII.htm    </vt:lpstr>
      <vt:lpstr>What are the general objectives of the course?</vt:lpstr>
      <vt:lpstr>What will we study ?</vt:lpstr>
      <vt:lpstr>What will we study ?</vt:lpstr>
      <vt:lpstr>Readings </vt:lpstr>
      <vt:lpstr>Project, Final Exam &amp; Grades</vt:lpstr>
      <vt:lpstr>Bad Code</vt:lpstr>
      <vt:lpstr>Bad Code</vt:lpstr>
      <vt:lpstr>Bad Code</vt:lpstr>
      <vt:lpstr>Bad Code</vt:lpstr>
      <vt:lpstr>Bad Code</vt:lpstr>
      <vt:lpstr>Bad Code</vt:lpstr>
      <vt:lpstr>Clean Code</vt:lpstr>
      <vt:lpstr>Clean Code</vt:lpstr>
      <vt:lpstr>Clean Code</vt:lpstr>
      <vt:lpstr>Clean Code</vt:lpstr>
      <vt:lpstr>Clean Code</vt:lpstr>
      <vt:lpstr>Clean Code</vt:lpstr>
      <vt:lpstr>Clean Code</vt:lpstr>
      <vt:lpstr>Clean Code</vt:lpstr>
      <vt:lpstr>Clean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Code</dc:title>
  <dc:creator>zarras</dc:creator>
  <cp:lastModifiedBy>ΑΠΟΣΤΟΛΟΣ ΖΑΡΡΑΣ</cp:lastModifiedBy>
  <cp:revision>39</cp:revision>
  <cp:lastPrinted>2026-10-01T17:23:51Z</cp:lastPrinted>
  <dcterms:created xsi:type="dcterms:W3CDTF">2006-08-16T00:00:00Z</dcterms:created>
  <dcterms:modified xsi:type="dcterms:W3CDTF">2026-10-01T17:25:35Z</dcterms:modified>
</cp:coreProperties>
</file>