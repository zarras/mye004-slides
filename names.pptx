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45"/>
  </p:notesMasterIdLst>
  <p:handoutMasterIdLst>
    <p:handoutMasterId r:id="rId46"/>
  </p:handoutMasterIdLst>
  <p:sldIdLst>
    <p:sldId id="256" r:id="rId2"/>
    <p:sldId id="260" r:id="rId3"/>
    <p:sldId id="262" r:id="rId4"/>
    <p:sldId id="261" r:id="rId5"/>
    <p:sldId id="298" r:id="rId6"/>
    <p:sldId id="263" r:id="rId7"/>
    <p:sldId id="264" r:id="rId8"/>
    <p:sldId id="265" r:id="rId9"/>
    <p:sldId id="300" r:id="rId10"/>
    <p:sldId id="30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0" r:id="rId34"/>
    <p:sldId id="302" r:id="rId35"/>
    <p:sldId id="291" r:id="rId36"/>
    <p:sldId id="292" r:id="rId37"/>
    <p:sldId id="293" r:id="rId38"/>
    <p:sldId id="299" r:id="rId39"/>
    <p:sldId id="294" r:id="rId40"/>
    <p:sldId id="303" r:id="rId41"/>
    <p:sldId id="304" r:id="rId42"/>
    <p:sldId id="305" r:id="rId43"/>
    <p:sldId id="309" r:id="rId44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93" autoAdjust="0"/>
    <p:restoredTop sz="95215" autoAdjust="0"/>
  </p:normalViewPr>
  <p:slideViewPr>
    <p:cSldViewPr>
      <p:cViewPr varScale="1">
        <p:scale>
          <a:sx n="63" d="100"/>
          <a:sy n="63" d="100"/>
        </p:scale>
        <p:origin x="16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97C9E-53CF-4710-B4F7-20A7039B9428}" type="datetimeFigureOut">
              <a:rPr lang="el-GR" smtClean="0"/>
              <a:pPr/>
              <a:t>30/9/2025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573"/>
            <a:ext cx="2971800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573"/>
            <a:ext cx="2971800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3B7B5-44CB-49D9-9C36-FC361061C3A6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7DF70-03C8-4BDB-82BF-9C076E474B74}" type="datetimeFigureOut">
              <a:rPr lang="el-GR" smtClean="0"/>
              <a:pPr/>
              <a:t>30/9/2025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6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E72D8-DBAA-4DCF-87F7-0480A1282348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</a:t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4 options is</a:t>
            </a:r>
            <a:r>
              <a:rPr lang="en-US" baseline="0" dirty="0"/>
              <a:t> better ?</a:t>
            </a:r>
          </a:p>
          <a:p>
            <a:endParaRPr lang="en-US" baseline="0" dirty="0"/>
          </a:p>
          <a:p>
            <a:r>
              <a:rPr lang="en-US" baseline="0" dirty="0"/>
              <a:t>last three give also reason we measure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4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σημαδεμένα κελιά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constants to express that 0</a:t>
            </a:r>
            <a:r>
              <a:rPr lang="en-US" baseline="30000" dirty="0"/>
              <a:t>th</a:t>
            </a:r>
            <a:r>
              <a:rPr lang="en-US" dirty="0"/>
              <a:t> position is the cell</a:t>
            </a:r>
            <a:r>
              <a:rPr lang="en-US" baseline="0" dirty="0"/>
              <a:t> status and 4 is the flagged value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this bad??</a:t>
            </a:r>
          </a:p>
          <a:p>
            <a:endParaRPr lang="en-US" dirty="0"/>
          </a:p>
          <a:p>
            <a:r>
              <a:rPr lang="en-US" dirty="0"/>
              <a:t>Imagine calling list methods</a:t>
            </a:r>
            <a:r>
              <a:rPr lang="en-US" baseline="0" dirty="0"/>
              <a:t> on the variable and getting compile errors back, searching what is going on, </a:t>
            </a:r>
            <a:r>
              <a:rPr lang="en-US" baseline="0"/>
              <a:t>list documentation and so on…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12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ουσιαστική</a:t>
            </a:r>
            <a:r>
              <a:rPr lang="el-GR" baseline="0" dirty="0"/>
              <a:t> διακριση μεταξυ των εννοιων</a:t>
            </a:r>
            <a:endParaRPr lang="en-US" baseline="0" dirty="0"/>
          </a:p>
          <a:p>
            <a:r>
              <a:rPr lang="el-GR" baseline="0" dirty="0"/>
              <a:t>Πρέπει να αναδεικνύουν τις διαφορές μεταξυ των εννοιων</a:t>
            </a:r>
            <a:endParaRPr lang="el-GR" dirty="0"/>
          </a:p>
          <a:p>
            <a:endParaRPr lang="el-GR" dirty="0"/>
          </a:p>
          <a:p>
            <a:r>
              <a:rPr lang="el-GR" dirty="0" err="1"/>
              <a:t>λογικα</a:t>
            </a:r>
            <a:r>
              <a:rPr lang="el-GR" baseline="0" dirty="0"/>
              <a:t> </a:t>
            </a:r>
            <a:r>
              <a:rPr lang="en-US" baseline="0" dirty="0" err="1"/>
              <a:t>src</a:t>
            </a:r>
            <a:r>
              <a:rPr lang="en-US" baseline="0" dirty="0"/>
              <a:t>, </a:t>
            </a:r>
            <a:r>
              <a:rPr lang="en-US" baseline="0" dirty="0" err="1"/>
              <a:t>dest</a:t>
            </a:r>
            <a:r>
              <a:rPr lang="en-US" baseline="0" dirty="0"/>
              <a:t> </a:t>
            </a:r>
            <a:r>
              <a:rPr lang="el-GR" baseline="0" dirty="0"/>
              <a:t>αλλά ποιο είναι ποιο? τα ονόματα δεν βοηθάνε να καταλάβουμε τη διαφορά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15</a:t>
            </a:fld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ουσιαστική</a:t>
            </a:r>
            <a:r>
              <a:rPr lang="el-GR" baseline="0" dirty="0"/>
              <a:t> </a:t>
            </a:r>
            <a:r>
              <a:rPr lang="el-GR" baseline="0" dirty="0" err="1"/>
              <a:t>διακριση</a:t>
            </a:r>
            <a:r>
              <a:rPr lang="el-GR" baseline="0" dirty="0"/>
              <a:t> </a:t>
            </a:r>
            <a:r>
              <a:rPr lang="el-GR" baseline="0" dirty="0" err="1"/>
              <a:t>μεταξυ</a:t>
            </a:r>
            <a:r>
              <a:rPr lang="el-GR" baseline="0" dirty="0"/>
              <a:t> των </a:t>
            </a:r>
            <a:r>
              <a:rPr lang="el-GR" baseline="0" dirty="0" err="1"/>
              <a:t>εννοιων</a:t>
            </a:r>
            <a:r>
              <a:rPr lang="el-GR" baseline="0" dirty="0"/>
              <a:t>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16</a:t>
            </a:fld>
            <a:endParaRPr 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</a:t>
            </a:r>
            <a:r>
              <a:rPr lang="en-US" baseline="0" dirty="0"/>
              <a:t> you want to tell someone to change something, correct something, there is a bug in something ….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προθέματα</a:t>
            </a:r>
            <a:r>
              <a:rPr lang="el-GR" baseline="0" dirty="0"/>
              <a:t> για ξεχωρίζουμε μεταβλητές από πεδία κλάσης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έξυπνα ή χιουμοριστικά ονόματα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36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3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://www.cs.uoi.gr/~zarras/soft-devII.ht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arras/mye004-slides/tree/master/Examples/NamingPerl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Meaningful Names</a:t>
            </a:r>
            <a:br>
              <a:rPr lang="en-US" dirty="0"/>
            </a:br>
            <a:r>
              <a:rPr lang="en-US" sz="1800" dirty="0">
                <a:hlinkClick r:id="rId2"/>
              </a:rPr>
              <a:t>www.cs.uoi.gr/~zarras/soft-devII.htm</a:t>
            </a:r>
            <a:r>
              <a:rPr lang="en-US" sz="1800" dirty="0"/>
              <a:t>    </a:t>
            </a:r>
            <a:endParaRPr lang="el-G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Clean Code by R. C. Martin, </a:t>
            </a:r>
            <a:r>
              <a:rPr lang="en-US" dirty="0" err="1"/>
              <a:t>a.k.a</a:t>
            </a:r>
            <a:r>
              <a:rPr lang="en-US" dirty="0"/>
              <a:t> “Uncle Bob”</a:t>
            </a:r>
            <a:endParaRPr lang="el-GR" dirty="0"/>
          </a:p>
        </p:txBody>
      </p:sp>
      <p:pic>
        <p:nvPicPr>
          <p:cNvPr id="19458" name="Picture 2" descr="http://3.bp.blogspot.com/-my0di_JDdTk/TbXpTkfxZDI/AAAAAAAABTc/s9ix4WZQycE/s1600/file-naming-convention-11042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066800"/>
            <a:ext cx="6096000" cy="1895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2209802" y="2190690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d; // elapsed time in days</a:t>
            </a:r>
            <a:endParaRPr lang="el-GR" sz="2000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2209802" y="2057400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d; // elapsed time in days</a:t>
            </a:r>
            <a:endParaRPr lang="el-GR" sz="2000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800" y="2690338"/>
            <a:ext cx="5105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If a name requires a comment, then the name does not reveal its intent.</a:t>
            </a:r>
            <a:endParaRPr lang="el-GR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2209802" y="1828800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d; // elapsed time in days</a:t>
            </a:r>
            <a:endParaRPr lang="el-GR" sz="2000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667000"/>
            <a:ext cx="6248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name d </a:t>
            </a:r>
            <a:r>
              <a:rPr lang="en-US" dirty="0">
                <a:solidFill>
                  <a:srgbClr val="FF0000"/>
                </a:solidFill>
              </a:rPr>
              <a:t>reveals nothing</a:t>
            </a:r>
            <a:r>
              <a:rPr lang="en-US" dirty="0"/>
              <a:t>.  It does not evoke a sense of elapsed time, nor of days. </a:t>
            </a:r>
          </a:p>
          <a:p>
            <a:endParaRPr lang="en-US" dirty="0"/>
          </a:p>
          <a:p>
            <a:r>
              <a:rPr lang="en-US" dirty="0"/>
              <a:t>We should choose a name that specifies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 what is being measured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the </a:t>
            </a:r>
            <a:r>
              <a:rPr lang="en-US" dirty="0">
                <a:solidFill>
                  <a:srgbClr val="FF0000"/>
                </a:solidFill>
              </a:rPr>
              <a:t>unit of that measurement</a:t>
            </a:r>
            <a:r>
              <a:rPr lang="en-US" dirty="0"/>
              <a:t>:</a:t>
            </a:r>
          </a:p>
          <a:p>
            <a:endParaRPr lang="fr-FR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elapsedTimeInDays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daysSinceCreation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daysSinceModification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fileAgeInDays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l-G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1828800" y="2690338"/>
            <a:ext cx="5105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The name of a variable, function, or class, should answer all the big questions. </a:t>
            </a:r>
          </a:p>
          <a:p>
            <a:pPr algn="just"/>
            <a:endParaRPr lang="en-US" b="1" dirty="0">
              <a:solidFill>
                <a:srgbClr val="C00000"/>
              </a:solidFill>
            </a:endParaRP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It should tell you </a:t>
            </a:r>
          </a:p>
          <a:p>
            <a:pPr algn="just"/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 why it exists, 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 what it does, </a:t>
            </a: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 and how it is used.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1143000" y="1295400"/>
            <a:ext cx="6705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the purpose of this code?</a:t>
            </a:r>
          </a:p>
          <a:p>
            <a:endParaRPr lang="fr-FR" dirty="0"/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getThem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list1 =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[]&gt;();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for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 x :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theList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if (x[0] == 4)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list1.add(x);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list1;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1143000" y="1404879"/>
            <a:ext cx="6705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the purpose of this code?</a:t>
            </a:r>
          </a:p>
          <a:p>
            <a:endParaRPr lang="fr-FR" dirty="0"/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getThem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list1 =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[]&gt;();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for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 x :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theList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if (x[0] == 4)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list1.add(x);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list1;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2" y="4369477"/>
            <a:ext cx="7326493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is it hard to tell what this code is doing?</a:t>
            </a:r>
          </a:p>
          <a:p>
            <a:endParaRPr lang="en-US" dirty="0"/>
          </a:p>
          <a:p>
            <a:r>
              <a:rPr lang="fr-FR" dirty="0"/>
              <a:t>The code </a:t>
            </a:r>
            <a:r>
              <a:rPr lang="fr-FR" dirty="0" err="1"/>
              <a:t>implicitly</a:t>
            </a:r>
            <a:r>
              <a:rPr lang="fr-FR" dirty="0"/>
              <a:t> </a:t>
            </a:r>
            <a:r>
              <a:rPr lang="en-US" dirty="0"/>
              <a:t>requires that we know the answers to questions such as:</a:t>
            </a:r>
          </a:p>
          <a:p>
            <a:pPr>
              <a:buFont typeface="Wingdings" pitchFamily="2" charset="2"/>
              <a:buChar char="§"/>
            </a:pPr>
            <a:r>
              <a:rPr lang="en-US" b="1" dirty="0"/>
              <a:t> </a:t>
            </a:r>
            <a:r>
              <a:rPr lang="en-US" dirty="0"/>
              <a:t>What kinds of things are in </a:t>
            </a:r>
            <a:r>
              <a:rPr lang="en-US" dirty="0" err="1">
                <a:solidFill>
                  <a:srgbClr val="FF0000"/>
                </a:solidFill>
              </a:rPr>
              <a:t>theList</a:t>
            </a:r>
            <a:r>
              <a:rPr lang="en-US" dirty="0"/>
              <a:t>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What is the significance of the </a:t>
            </a:r>
            <a:r>
              <a:rPr lang="en-US" dirty="0">
                <a:solidFill>
                  <a:srgbClr val="FF0000"/>
                </a:solidFill>
              </a:rPr>
              <a:t>zero-</a:t>
            </a:r>
            <a:r>
              <a:rPr lang="en-US" dirty="0" err="1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subscript </a:t>
            </a:r>
            <a:r>
              <a:rPr lang="en-US" dirty="0"/>
              <a:t>of an item in </a:t>
            </a:r>
            <a:r>
              <a:rPr lang="en-US" dirty="0" err="1"/>
              <a:t>theList</a:t>
            </a:r>
            <a:r>
              <a:rPr lang="en-US" dirty="0"/>
              <a:t>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What is the significance of the </a:t>
            </a:r>
            <a:r>
              <a:rPr lang="en-US" dirty="0">
                <a:solidFill>
                  <a:srgbClr val="FF0000"/>
                </a:solidFill>
              </a:rPr>
              <a:t>value 4</a:t>
            </a:r>
            <a:r>
              <a:rPr lang="en-US" dirty="0"/>
              <a:t>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How would we use the </a:t>
            </a:r>
            <a:r>
              <a:rPr lang="en-US" dirty="0">
                <a:solidFill>
                  <a:srgbClr val="FF0000"/>
                </a:solidFill>
              </a:rPr>
              <a:t>list</a:t>
            </a:r>
            <a:r>
              <a:rPr lang="en-US" dirty="0"/>
              <a:t> being </a:t>
            </a:r>
            <a:r>
              <a:rPr lang="en-US" dirty="0">
                <a:solidFill>
                  <a:srgbClr val="FF0000"/>
                </a:solidFill>
              </a:rPr>
              <a:t>returned</a:t>
            </a:r>
            <a:r>
              <a:rPr lang="en-US" dirty="0"/>
              <a:t>?</a:t>
            </a:r>
            <a:endParaRPr lang="el-G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762000" y="1281293"/>
            <a:ext cx="7543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Say that we’re working in </a:t>
            </a:r>
            <a:r>
              <a:rPr lang="en-US" i="1" dirty="0">
                <a:solidFill>
                  <a:srgbClr val="FF0000"/>
                </a:solidFill>
              </a:rPr>
              <a:t>a mine sweeper game</a:t>
            </a:r>
            <a:r>
              <a:rPr lang="en-US" i="1" dirty="0"/>
              <a:t>. We find that the </a:t>
            </a:r>
            <a:r>
              <a:rPr lang="en-US" i="1" dirty="0">
                <a:solidFill>
                  <a:srgbClr val="FF0000"/>
                </a:solidFill>
              </a:rPr>
              <a:t>board</a:t>
            </a:r>
            <a:r>
              <a:rPr lang="en-US" i="1" dirty="0"/>
              <a:t> is a list of</a:t>
            </a:r>
          </a:p>
          <a:p>
            <a:r>
              <a:rPr lang="en-US" dirty="0"/>
              <a:t>cells called </a:t>
            </a:r>
            <a:r>
              <a:rPr lang="en-US" dirty="0" err="1">
                <a:solidFill>
                  <a:srgbClr val="FF0000"/>
                </a:solidFill>
              </a:rPr>
              <a:t>theList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cell</a:t>
            </a:r>
            <a:r>
              <a:rPr lang="en-US" dirty="0"/>
              <a:t> on the board is represented by a </a:t>
            </a:r>
            <a:r>
              <a:rPr lang="en-US" dirty="0">
                <a:solidFill>
                  <a:srgbClr val="FF0000"/>
                </a:solidFill>
              </a:rPr>
              <a:t>simple array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We further find that the zero-</a:t>
            </a:r>
            <a:r>
              <a:rPr lang="en-US" dirty="0" err="1"/>
              <a:t>th</a:t>
            </a:r>
            <a:r>
              <a:rPr lang="en-US" dirty="0"/>
              <a:t> subscript is the location of a </a:t>
            </a:r>
            <a:r>
              <a:rPr lang="en-US" dirty="0">
                <a:solidFill>
                  <a:srgbClr val="FF0000"/>
                </a:solidFill>
              </a:rPr>
              <a:t>status value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and that a status value of 4 means “</a:t>
            </a:r>
            <a:r>
              <a:rPr lang="en-US" dirty="0">
                <a:solidFill>
                  <a:srgbClr val="FF0000"/>
                </a:solidFill>
              </a:rPr>
              <a:t>flagged</a:t>
            </a:r>
            <a:r>
              <a:rPr lang="en-US" dirty="0"/>
              <a:t>.” </a:t>
            </a:r>
          </a:p>
          <a:p>
            <a:endParaRPr lang="en-US" dirty="0"/>
          </a:p>
          <a:p>
            <a:r>
              <a:rPr lang="en-US" dirty="0"/>
              <a:t>Just </a:t>
            </a:r>
            <a:r>
              <a:rPr lang="en-US" dirty="0">
                <a:solidFill>
                  <a:srgbClr val="FF0000"/>
                </a:solidFill>
              </a:rPr>
              <a:t>by giving these concepts names </a:t>
            </a:r>
            <a:r>
              <a:rPr lang="en-US" dirty="0"/>
              <a:t>we can improve the code considerably: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</a:t>
            </a:r>
            <a:r>
              <a:rPr lang="fr-FR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getFlaggedCells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List&lt;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 </a:t>
            </a:r>
            <a:r>
              <a:rPr lang="fr-FR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flaggedCells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[]&gt;();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for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[]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fr-FR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gameBoard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if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fr-FR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STATUS_VALUE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] == </a:t>
            </a:r>
            <a:r>
              <a:rPr lang="fr-FR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FLAGGED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flaggedCells.add(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cell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return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flaggedCells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381000" y="1293674"/>
            <a:ext cx="8305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Once </a:t>
            </a:r>
            <a:r>
              <a:rPr lang="fr-FR" dirty="0" err="1"/>
              <a:t>again</a:t>
            </a:r>
            <a:r>
              <a:rPr lang="fr-FR" dirty="0"/>
              <a:t> compare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j=0; j&lt;34; j++)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s += (t[j]*4)/5;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Intention Revealing Names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381000" y="1219200"/>
            <a:ext cx="8305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Once </a:t>
            </a:r>
            <a:r>
              <a:rPr lang="fr-FR" dirty="0" err="1"/>
              <a:t>again</a:t>
            </a:r>
            <a:r>
              <a:rPr lang="fr-FR" dirty="0"/>
              <a:t> compare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j=0; j&lt;34; j++)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s += (t[j]*4)/5;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fr-FR" b="1" dirty="0"/>
          </a:p>
          <a:p>
            <a:r>
              <a:rPr lang="fr-FR" b="1" dirty="0"/>
              <a:t>to</a:t>
            </a:r>
          </a:p>
          <a:p>
            <a:endParaRPr lang="fr-FR" b="1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realDaysPerIdealDay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4;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WORK_DAYS_PER_WEEK = 5;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j=0; j &lt; NUMBER_OF_TASKS; j++)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realTaskDays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taskEstimate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[j] *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realDaysPerIdealDay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realTaskWeeks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realTaskDays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/ WORK_DAYS_PER_WEEK);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realTaskWeeks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Disinformation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1676403" y="1905000"/>
            <a:ext cx="418255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accountList</a:t>
            </a:r>
            <a:r>
              <a:rPr lang="en-US" dirty="0"/>
              <a:t> 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accountList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== null){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throw new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BankException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l-G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Disinformation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1066800" y="1905002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accountList</a:t>
            </a:r>
            <a:r>
              <a:rPr lang="en-US" dirty="0"/>
              <a:t> 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Account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searchForAccount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(Account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accountList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[]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…......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if(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accountList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== null){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throw new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BankException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…………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dirty="0"/>
              <a:t>The word </a:t>
            </a:r>
            <a:r>
              <a:rPr lang="en-US" dirty="0">
                <a:solidFill>
                  <a:srgbClr val="FF0000"/>
                </a:solidFill>
              </a:rPr>
              <a:t>list</a:t>
            </a:r>
            <a:r>
              <a:rPr lang="en-US" dirty="0"/>
              <a:t> means something specific to programmers.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the container holding the accounts is not actually a List, it may lead to false conclusions.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So </a:t>
            </a:r>
            <a:r>
              <a:rPr lang="en-US" dirty="0" err="1">
                <a:solidFill>
                  <a:srgbClr val="FF0000"/>
                </a:solidFill>
              </a:rPr>
              <a:t>accountGroup</a:t>
            </a:r>
            <a:r>
              <a:rPr lang="en-US" dirty="0"/>
              <a:t> or </a:t>
            </a:r>
            <a:r>
              <a:rPr lang="en-US" dirty="0" err="1">
                <a:solidFill>
                  <a:srgbClr val="FF0000"/>
                </a:solidFill>
              </a:rPr>
              <a:t>bunchOfAccounts</a:t>
            </a:r>
            <a:r>
              <a:rPr lang="en-US" dirty="0"/>
              <a:t> or just plain </a:t>
            </a:r>
            <a:r>
              <a:rPr lang="en-US" dirty="0">
                <a:solidFill>
                  <a:srgbClr val="FF0000"/>
                </a:solidFill>
              </a:rPr>
              <a:t>accounts</a:t>
            </a:r>
            <a:r>
              <a:rPr lang="en-US" dirty="0"/>
              <a:t> would be better.</a:t>
            </a:r>
            <a:endParaRPr lang="el-G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Disinformation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1066800" y="1905000"/>
            <a:ext cx="7848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does this code do 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a = l;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 (O == l)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a = O1;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l = 01;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Disinformation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838200" y="1905001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does this code do 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a = l;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 (O == l)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a = O1;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l = 01;</a:t>
            </a: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dirty="0"/>
              <a:t>A truly awful example of </a:t>
            </a:r>
            <a:r>
              <a:rPr lang="en-US" dirty="0" err="1"/>
              <a:t>disinformative</a:t>
            </a:r>
            <a:r>
              <a:rPr lang="en-US" dirty="0"/>
              <a:t> names would be the use of </a:t>
            </a:r>
            <a:r>
              <a:rPr lang="en-US" dirty="0">
                <a:solidFill>
                  <a:srgbClr val="FF0000"/>
                </a:solidFill>
              </a:rPr>
              <a:t>lower-case L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uppercase O</a:t>
            </a:r>
            <a:r>
              <a:rPr lang="en-US" dirty="0"/>
              <a:t> as variable names, especially in combination.</a:t>
            </a:r>
          </a:p>
          <a:p>
            <a:pPr algn="just"/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dirty="0" err="1"/>
              <a:t>Such</a:t>
            </a:r>
            <a:r>
              <a:rPr lang="fr-FR" dirty="0"/>
              <a:t> </a:t>
            </a:r>
            <a:r>
              <a:rPr lang="en-US" dirty="0"/>
              <a:t>things do exist !!!.</a:t>
            </a:r>
          </a:p>
          <a:p>
            <a:endParaRPr lang="en-US" dirty="0"/>
          </a:p>
          <a:p>
            <a:r>
              <a:rPr lang="en-US" dirty="0"/>
              <a:t>In one case the author of the code suggested using a </a:t>
            </a:r>
            <a:r>
              <a:rPr lang="en-US" dirty="0">
                <a:solidFill>
                  <a:srgbClr val="FF0000"/>
                </a:solidFill>
              </a:rPr>
              <a:t>different font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differences</a:t>
            </a:r>
            <a:r>
              <a:rPr lang="fr-FR" dirty="0"/>
              <a:t> are more </a:t>
            </a:r>
            <a:r>
              <a:rPr lang="fr-FR" dirty="0" err="1"/>
              <a:t>clear</a:t>
            </a:r>
            <a:r>
              <a:rPr lang="fr-FR" dirty="0"/>
              <a:t> !!!!</a:t>
            </a:r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Meaningful Distinctions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85800" y="1905000"/>
            <a:ext cx="7467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Courier New" pitchFamily="49" charset="0"/>
              </a:rPr>
              <a:t>what is the purpose of the parameters ???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copyChars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(char a1[], char a2[]) {</a:t>
            </a:r>
          </a:p>
          <a:p>
            <a:r>
              <a:rPr lang="nn-NO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………</a:t>
            </a:r>
            <a:endParaRPr lang="el-G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Meaningful Distinctions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85800" y="1676402"/>
            <a:ext cx="7467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Courier New" pitchFamily="49" charset="0"/>
              </a:rPr>
              <a:t>what is the purpose of the parameters ???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copyChars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(char a1[], char a2[]) {</a:t>
            </a:r>
          </a:p>
          <a:p>
            <a:r>
              <a:rPr lang="nn-NO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for (int i = 0; i &lt; a1.length; i++)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a2[i] = a1[i];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Number-series naming </a:t>
            </a:r>
            <a:r>
              <a:rPr lang="en-US" dirty="0"/>
              <a:t>(a1, a2, .. </a:t>
            </a:r>
            <a:r>
              <a:rPr lang="en-US" dirty="0" err="1"/>
              <a:t>aN</a:t>
            </a:r>
            <a:r>
              <a:rPr lang="en-US" dirty="0"/>
              <a:t>) is the opposite of intentional naming. Such</a:t>
            </a:r>
          </a:p>
          <a:p>
            <a:r>
              <a:rPr lang="en-US" dirty="0"/>
              <a:t>names are not </a:t>
            </a:r>
            <a:r>
              <a:rPr lang="en-US" dirty="0" err="1"/>
              <a:t>disinformative</a:t>
            </a:r>
            <a:r>
              <a:rPr lang="en-US" dirty="0"/>
              <a:t>—they are non-informative;  they provide no clue to the </a:t>
            </a:r>
            <a:r>
              <a:rPr lang="fr-FR" dirty="0" err="1"/>
              <a:t>author’s</a:t>
            </a:r>
            <a:r>
              <a:rPr lang="fr-FR" dirty="0"/>
              <a:t> intention.</a:t>
            </a: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This function reads much better when </a:t>
            </a:r>
            <a:r>
              <a:rPr lang="en-US" dirty="0">
                <a:solidFill>
                  <a:srgbClr val="FF0000"/>
                </a:solidFill>
              </a:rPr>
              <a:t>source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destination</a:t>
            </a:r>
            <a:r>
              <a:rPr lang="en-US" dirty="0"/>
              <a:t> are used for the parameter </a:t>
            </a:r>
            <a:r>
              <a:rPr lang="fr-FR" dirty="0" err="1"/>
              <a:t>names</a:t>
            </a:r>
            <a:r>
              <a:rPr lang="fr-FR" dirty="0"/>
              <a:t>.</a:t>
            </a:r>
            <a:endParaRPr lang="el-G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Meaningful Distinctions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85800" y="1676400"/>
            <a:ext cx="746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Courier New" pitchFamily="49" charset="0"/>
              </a:rPr>
              <a:t>what is the purpose of the classes ???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Product {…}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ProductInfo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{…}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ProductData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{…}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Meaningful Distinctions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85800" y="1676401"/>
            <a:ext cx="8153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Courier New" pitchFamily="49" charset="0"/>
              </a:rPr>
              <a:t>what is the purpose of the classes ???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Product {…}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ProductInfo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{…}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ProductData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{…}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Noise words</a:t>
            </a:r>
            <a:r>
              <a:rPr lang="en-US" dirty="0"/>
              <a:t> are another meaningless distinction.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We have made the </a:t>
            </a:r>
            <a:r>
              <a:rPr lang="en-US" dirty="0">
                <a:solidFill>
                  <a:srgbClr val="FF0000"/>
                </a:solidFill>
              </a:rPr>
              <a:t>names different </a:t>
            </a:r>
            <a:r>
              <a:rPr lang="en-US" dirty="0"/>
              <a:t>without making them </a:t>
            </a:r>
            <a:r>
              <a:rPr lang="en-US" dirty="0">
                <a:solidFill>
                  <a:srgbClr val="FF0000"/>
                </a:solidFill>
              </a:rPr>
              <a:t>mean anything different</a:t>
            </a:r>
            <a:r>
              <a:rPr lang="en-US" dirty="0"/>
              <a:t> !!!!</a:t>
            </a:r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fr-FR" dirty="0" err="1">
                <a:solidFill>
                  <a:srgbClr val="C00000"/>
                </a:solidFill>
              </a:rPr>
              <a:t>Distinguish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names</a:t>
            </a:r>
            <a:r>
              <a:rPr lang="fr-FR" dirty="0">
                <a:solidFill>
                  <a:srgbClr val="C00000"/>
                </a:solidFill>
              </a:rPr>
              <a:t> in </a:t>
            </a:r>
            <a:r>
              <a:rPr lang="en-US" dirty="0">
                <a:solidFill>
                  <a:srgbClr val="C00000"/>
                </a:solidFill>
              </a:rPr>
              <a:t>such a way that the reader knows what the differences offer.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Pronounceable Names 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219202"/>
            <a:ext cx="579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cs typeface="Courier New" pitchFamily="49" charset="0"/>
              </a:rPr>
              <a:t>Try</a:t>
            </a:r>
            <a:r>
              <a:rPr lang="fr-FR" dirty="0">
                <a:cs typeface="Courier New" pitchFamily="49" charset="0"/>
              </a:rPr>
              <a:t> to </a:t>
            </a:r>
            <a:r>
              <a:rPr lang="fr-FR" dirty="0" err="1">
                <a:cs typeface="Courier New" pitchFamily="49" charset="0"/>
              </a:rPr>
              <a:t>read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this</a:t>
            </a:r>
            <a:r>
              <a:rPr lang="fr-FR" dirty="0">
                <a:cs typeface="Courier New" pitchFamily="49" charset="0"/>
              </a:rPr>
              <a:t> !!</a:t>
            </a: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DtaRcrd102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genymdhms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modymdhms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nb-NO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final String pszqint = "102";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 ... */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Pronounceable Names 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143002"/>
            <a:ext cx="5791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cs typeface="Courier New" pitchFamily="49" charset="0"/>
              </a:rPr>
              <a:t>Compare </a:t>
            </a:r>
            <a:r>
              <a:rPr lang="fr-FR" dirty="0" err="1">
                <a:cs typeface="Courier New" pitchFamily="49" charset="0"/>
              </a:rPr>
              <a:t>these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two</a:t>
            </a:r>
            <a:r>
              <a:rPr lang="fr-FR" dirty="0">
                <a:cs typeface="Courier New" pitchFamily="49" charset="0"/>
              </a:rPr>
              <a:t> ….</a:t>
            </a: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DtaRcrd102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genymdhms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modymdhms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nb-NO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final String pszqint = "102";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 ... */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class Customer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generationTimestamp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Date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modificationTimestamp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final String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recordId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"102";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 ... */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562600"/>
            <a:ext cx="746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can’t pronounce it, </a:t>
            </a:r>
            <a:r>
              <a:rPr lang="en-US" dirty="0">
                <a:solidFill>
                  <a:srgbClr val="FF0000"/>
                </a:solidFill>
              </a:rPr>
              <a:t>you can’t discuss it !!!!</a:t>
            </a:r>
          </a:p>
          <a:p>
            <a:endParaRPr lang="en-US" dirty="0"/>
          </a:p>
          <a:p>
            <a:r>
              <a:rPr lang="en-US" dirty="0"/>
              <a:t>This matters because </a:t>
            </a:r>
            <a:r>
              <a:rPr lang="en-US" dirty="0">
                <a:solidFill>
                  <a:srgbClr val="FF0000"/>
                </a:solidFill>
              </a:rPr>
              <a:t>programming is a social activity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!!!!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Searchable Names 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481079"/>
            <a:ext cx="731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cs typeface="Courier New" pitchFamily="49" charset="0"/>
              </a:rPr>
              <a:t>Imagine </a:t>
            </a:r>
            <a:r>
              <a:rPr lang="fr-FR" dirty="0" err="1">
                <a:cs typeface="Courier New" pitchFamily="49" charset="0"/>
              </a:rPr>
              <a:t>that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you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search</a:t>
            </a:r>
            <a:r>
              <a:rPr lang="fr-FR" dirty="0">
                <a:cs typeface="Courier New" pitchFamily="49" charset="0"/>
              </a:rPr>
              <a:t> for a variable, </a:t>
            </a:r>
            <a:r>
              <a:rPr lang="fr-FR" dirty="0" err="1">
                <a:cs typeface="Courier New" pitchFamily="49" charset="0"/>
              </a:rPr>
              <a:t>named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b="1" dirty="0">
                <a:solidFill>
                  <a:srgbClr val="000099"/>
                </a:solidFill>
                <a:cs typeface="Courier New" pitchFamily="49" charset="0"/>
              </a:rPr>
              <a:t>e</a:t>
            </a:r>
            <a:r>
              <a:rPr lang="fr-FR" dirty="0">
                <a:cs typeface="Courier New" pitchFamily="49" charset="0"/>
              </a:rPr>
              <a:t> in a file </a:t>
            </a:r>
            <a:r>
              <a:rPr lang="fr-FR" dirty="0" err="1">
                <a:cs typeface="Courier New" pitchFamily="49" charset="0"/>
              </a:rPr>
              <a:t>that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contains</a:t>
            </a:r>
            <a:r>
              <a:rPr lang="fr-FR" dirty="0">
                <a:cs typeface="Courier New" pitchFamily="49" charset="0"/>
              </a:rPr>
              <a:t> the </a:t>
            </a:r>
            <a:r>
              <a:rPr lang="fr-FR" dirty="0" err="1">
                <a:cs typeface="Courier New" pitchFamily="49" charset="0"/>
              </a:rPr>
              <a:t>following</a:t>
            </a:r>
            <a:r>
              <a:rPr lang="fr-FR" dirty="0">
                <a:cs typeface="Courier New" pitchFamily="49" charset="0"/>
              </a:rPr>
              <a:t> code</a:t>
            </a: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Exception e;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Date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timestampGeneration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Date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timestampModification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Searchable Names 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481080"/>
            <a:ext cx="7315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cs typeface="Courier New" pitchFamily="49" charset="0"/>
              </a:rPr>
              <a:t>Imagine </a:t>
            </a:r>
            <a:r>
              <a:rPr lang="fr-FR" dirty="0" err="1">
                <a:cs typeface="Courier New" pitchFamily="49" charset="0"/>
              </a:rPr>
              <a:t>that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you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search</a:t>
            </a:r>
            <a:r>
              <a:rPr lang="fr-FR" dirty="0">
                <a:cs typeface="Courier New" pitchFamily="49" charset="0"/>
              </a:rPr>
              <a:t> for a variable, </a:t>
            </a:r>
            <a:r>
              <a:rPr lang="fr-FR" dirty="0" err="1">
                <a:cs typeface="Courier New" pitchFamily="49" charset="0"/>
              </a:rPr>
              <a:t>named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b="1" dirty="0">
                <a:solidFill>
                  <a:srgbClr val="000099"/>
                </a:solidFill>
                <a:cs typeface="Courier New" pitchFamily="49" charset="0"/>
              </a:rPr>
              <a:t>e</a:t>
            </a:r>
            <a:r>
              <a:rPr lang="fr-FR" dirty="0">
                <a:cs typeface="Courier New" pitchFamily="49" charset="0"/>
              </a:rPr>
              <a:t> in a file </a:t>
            </a:r>
            <a:r>
              <a:rPr lang="fr-FR" dirty="0" err="1">
                <a:cs typeface="Courier New" pitchFamily="49" charset="0"/>
              </a:rPr>
              <a:t>that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contains</a:t>
            </a:r>
            <a:r>
              <a:rPr lang="fr-FR" dirty="0">
                <a:cs typeface="Courier New" pitchFamily="49" charset="0"/>
              </a:rPr>
              <a:t> the </a:t>
            </a:r>
            <a:r>
              <a:rPr lang="fr-FR" dirty="0" err="1">
                <a:cs typeface="Courier New" pitchFamily="49" charset="0"/>
              </a:rPr>
              <a:t>following</a:t>
            </a:r>
            <a:r>
              <a:rPr lang="fr-FR" dirty="0">
                <a:cs typeface="Courier New" pitchFamily="49" charset="0"/>
              </a:rPr>
              <a:t> code</a:t>
            </a: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 </a:t>
            </a:r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Exception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errorInFileOpening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Date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generationTimestamp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Date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modificationTimestamp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you would get &gt; 10 matches … </a:t>
            </a:r>
          </a:p>
          <a:p>
            <a:pPr algn="just"/>
            <a:r>
              <a:rPr lang="en-US" dirty="0"/>
              <a:t>the name e is a poor choice for any variable for which a programmer might need to search. </a:t>
            </a:r>
          </a:p>
          <a:p>
            <a:pPr algn="just"/>
            <a:r>
              <a:rPr lang="en-US" dirty="0"/>
              <a:t>It is the </a:t>
            </a:r>
            <a:r>
              <a:rPr lang="en-US" dirty="0">
                <a:solidFill>
                  <a:srgbClr val="FF0000"/>
                </a:solidFill>
              </a:rPr>
              <a:t>most common letter in the English language </a:t>
            </a:r>
            <a:r>
              <a:rPr lang="en-US" dirty="0"/>
              <a:t>and likely to show up in every passage of text in every program.</a:t>
            </a:r>
            <a:endParaRPr lang="en-US" dirty="0"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8"/>
            <a:ext cx="8305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What</a:t>
            </a:r>
            <a:r>
              <a:rPr lang="fr-FR" dirty="0"/>
              <a:t> do </a:t>
            </a:r>
            <a:r>
              <a:rPr lang="fr-FR" dirty="0" err="1"/>
              <a:t>these</a:t>
            </a:r>
            <a:r>
              <a:rPr lang="fr-FR" dirty="0"/>
              <a:t> variable </a:t>
            </a:r>
            <a:r>
              <a:rPr lang="fr-FR" dirty="0" err="1"/>
              <a:t>names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???</a:t>
            </a:r>
          </a:p>
          <a:p>
            <a:endParaRPr lang="fr-FR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bBusy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chInitial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dLightYears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iSize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fpPrice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dbPi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piFoo</a:t>
            </a:r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l-G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8"/>
            <a:ext cx="8305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What</a:t>
            </a:r>
            <a:r>
              <a:rPr lang="fr-FR" dirty="0"/>
              <a:t> do </a:t>
            </a:r>
            <a:r>
              <a:rPr lang="fr-FR" dirty="0" err="1"/>
              <a:t>these</a:t>
            </a:r>
            <a:r>
              <a:rPr lang="fr-FR" dirty="0"/>
              <a:t> variable </a:t>
            </a:r>
            <a:r>
              <a:rPr lang="fr-FR" dirty="0" err="1"/>
              <a:t>names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???</a:t>
            </a:r>
          </a:p>
          <a:p>
            <a:endParaRPr lang="fr-FR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bBusy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chInitial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 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dLightYears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 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iSize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fpPrice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dbPi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 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piFoo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In the old years we often used </a:t>
            </a:r>
            <a:r>
              <a:rPr lang="en-US" dirty="0">
                <a:solidFill>
                  <a:srgbClr val="FF0000"/>
                </a:solidFill>
              </a:rPr>
              <a:t>encodings</a:t>
            </a:r>
            <a:r>
              <a:rPr lang="en-US" dirty="0"/>
              <a:t> like these;  In </a:t>
            </a:r>
            <a:r>
              <a:rPr lang="en-US" dirty="0">
                <a:solidFill>
                  <a:srgbClr val="FF0000"/>
                </a:solidFill>
              </a:rPr>
              <a:t>Hungarian Notation</a:t>
            </a:r>
            <a:r>
              <a:rPr lang="en-US" dirty="0"/>
              <a:t>,  a variable name starts with a group of lower-case letters which are mnemonics for the </a:t>
            </a:r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of that variable.</a:t>
            </a:r>
          </a:p>
          <a:p>
            <a:pPr algn="just"/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Today there is a trend toward </a:t>
            </a:r>
            <a:r>
              <a:rPr lang="en-US" b="1" dirty="0"/>
              <a:t>smaller classes </a:t>
            </a:r>
            <a:r>
              <a:rPr lang="en-US" dirty="0"/>
              <a:t>and </a:t>
            </a:r>
            <a:r>
              <a:rPr lang="en-US" b="1" dirty="0"/>
              <a:t>shorter functions </a:t>
            </a:r>
            <a:r>
              <a:rPr lang="en-US" dirty="0"/>
              <a:t>so that people can usually see the point of declaration of each variable they’re </a:t>
            </a:r>
            <a:r>
              <a:rPr lang="fr-FR" dirty="0" err="1"/>
              <a:t>using</a:t>
            </a:r>
            <a:r>
              <a:rPr lang="fr-FR" dirty="0"/>
              <a:t>.</a:t>
            </a: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dirty="0"/>
              <a:t>So </a:t>
            </a:r>
            <a:r>
              <a:rPr lang="fr-FR" dirty="0" err="1"/>
              <a:t>encodings</a:t>
            </a:r>
            <a:r>
              <a:rPr lang="fr-FR" dirty="0"/>
              <a:t> are </a:t>
            </a:r>
            <a:r>
              <a:rPr lang="fr-FR" dirty="0" err="1"/>
              <a:t>unnessesary</a:t>
            </a:r>
            <a:r>
              <a:rPr lang="fr-FR" dirty="0"/>
              <a:t> </a:t>
            </a:r>
            <a:r>
              <a:rPr lang="fr-FR" dirty="0" err="1">
                <a:solidFill>
                  <a:srgbClr val="FF0000"/>
                </a:solidFill>
              </a:rPr>
              <a:t>burden</a:t>
            </a:r>
            <a:r>
              <a:rPr lang="fr-FR" dirty="0"/>
              <a:t>;  plus </a:t>
            </a:r>
            <a:r>
              <a:rPr lang="fr-FR" dirty="0" err="1"/>
              <a:t>encoded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</a:t>
            </a:r>
            <a:r>
              <a:rPr lang="en-US" dirty="0"/>
              <a:t>are </a:t>
            </a:r>
            <a:r>
              <a:rPr lang="en-US" dirty="0">
                <a:solidFill>
                  <a:srgbClr val="FF0000"/>
                </a:solidFill>
              </a:rPr>
              <a:t>seldom pronounceable</a:t>
            </a:r>
            <a:r>
              <a:rPr lang="en-US" dirty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8"/>
            <a:ext cx="8305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Suppose </a:t>
            </a:r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encodings</a:t>
            </a:r>
            <a:r>
              <a:rPr lang="fr-FR" dirty="0"/>
              <a:t>,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type of </a:t>
            </a:r>
            <a:r>
              <a:rPr lang="fr-FR" dirty="0" err="1"/>
              <a:t>this</a:t>
            </a:r>
            <a:r>
              <a:rPr lang="fr-FR" dirty="0"/>
              <a:t> variable ??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stringPhone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throw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NullPointerException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8"/>
            <a:ext cx="8305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Suppose </a:t>
            </a:r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encodings</a:t>
            </a:r>
            <a:r>
              <a:rPr lang="fr-FR" dirty="0"/>
              <a:t>,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type of </a:t>
            </a:r>
            <a:r>
              <a:rPr lang="fr-FR" dirty="0" err="1"/>
              <a:t>this</a:t>
            </a:r>
            <a:r>
              <a:rPr lang="fr-FR" dirty="0"/>
              <a:t> variable ??</a:t>
            </a:r>
          </a:p>
          <a:p>
            <a:endParaRPr lang="fr-FR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PhoneNumber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stringPhone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// name not changed when type changed!</a:t>
            </a:r>
          </a:p>
          <a:p>
            <a:endParaRPr lang="en-US" b="1" dirty="0"/>
          </a:p>
          <a:p>
            <a:r>
              <a:rPr lang="en-US" b="1" dirty="0"/>
              <a:t>.......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stringPhone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throw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NullPointerException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dirty="0"/>
          </a:p>
          <a:p>
            <a:r>
              <a:rPr lang="fr-FR" dirty="0" err="1"/>
              <a:t>encoded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</a:t>
            </a:r>
            <a:r>
              <a:rPr lang="en-US" dirty="0"/>
              <a:t>are </a:t>
            </a:r>
            <a:r>
              <a:rPr lang="en-US" dirty="0">
                <a:solidFill>
                  <a:srgbClr val="FF0000"/>
                </a:solidFill>
              </a:rPr>
              <a:t>easy to </a:t>
            </a:r>
            <a:r>
              <a:rPr lang="en-US" dirty="0" err="1">
                <a:solidFill>
                  <a:srgbClr val="FF0000"/>
                </a:solidFill>
              </a:rPr>
              <a:t>mis</a:t>
            </a:r>
            <a:r>
              <a:rPr lang="en-US" dirty="0">
                <a:solidFill>
                  <a:srgbClr val="FF0000"/>
                </a:solidFill>
              </a:rPr>
              <a:t>-type !!!!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80"/>
            <a:ext cx="8305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Yet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kind</a:t>
            </a:r>
            <a:r>
              <a:rPr lang="fr-FR" dirty="0"/>
              <a:t> of </a:t>
            </a:r>
            <a:r>
              <a:rPr lang="fr-FR" dirty="0" err="1"/>
              <a:t>encoding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class Part 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String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 // The textual description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setName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l-G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9"/>
            <a:ext cx="8305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Yet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kind</a:t>
            </a:r>
            <a:r>
              <a:rPr lang="fr-FR" dirty="0"/>
              <a:t> of </a:t>
            </a:r>
            <a:r>
              <a:rPr lang="fr-FR" dirty="0" err="1"/>
              <a:t>old</a:t>
            </a:r>
            <a:r>
              <a:rPr lang="fr-FR" dirty="0"/>
              <a:t>-times </a:t>
            </a:r>
            <a:r>
              <a:rPr lang="fr-FR" dirty="0" err="1"/>
              <a:t>encoding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class Part 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String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 // The textual description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setName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9200" y="4038602"/>
            <a:ext cx="6172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You also don’t need to prefix </a:t>
            </a:r>
            <a:r>
              <a:rPr lang="en-US" dirty="0">
                <a:solidFill>
                  <a:srgbClr val="FF0000"/>
                </a:solidFill>
              </a:rPr>
              <a:t>member variables </a:t>
            </a:r>
            <a:r>
              <a:rPr lang="en-US" dirty="0"/>
              <a:t>with m_ anymore. </a:t>
            </a:r>
          </a:p>
          <a:p>
            <a:endParaRPr lang="en-US" dirty="0"/>
          </a:p>
          <a:p>
            <a:pPr algn="just"/>
            <a:r>
              <a:rPr lang="en-US" dirty="0"/>
              <a:t>Your classes and functions should be </a:t>
            </a:r>
            <a:r>
              <a:rPr lang="en-US" dirty="0">
                <a:solidFill>
                  <a:srgbClr val="FF0000"/>
                </a:solidFill>
              </a:rPr>
              <a:t>small enough </a:t>
            </a:r>
            <a:r>
              <a:rPr lang="en-US" dirty="0"/>
              <a:t>that you don’t need them. </a:t>
            </a:r>
          </a:p>
          <a:p>
            <a:endParaRPr lang="en-US" dirty="0"/>
          </a:p>
          <a:p>
            <a:pPr algn="just"/>
            <a:r>
              <a:rPr lang="en-US" dirty="0"/>
              <a:t>And you should be using an </a:t>
            </a:r>
            <a:r>
              <a:rPr lang="en-US" dirty="0">
                <a:solidFill>
                  <a:srgbClr val="FF0000"/>
                </a:solidFill>
              </a:rPr>
              <a:t>editing environment</a:t>
            </a:r>
            <a:r>
              <a:rPr lang="en-US" dirty="0"/>
              <a:t> that highlights or colorizes members to make them distinct.</a:t>
            </a:r>
            <a:endParaRPr lang="el-G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Encodings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457200" y="1328678"/>
            <a:ext cx="8305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Yet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kind</a:t>
            </a:r>
            <a:r>
              <a:rPr lang="fr-FR" dirty="0"/>
              <a:t> of </a:t>
            </a:r>
            <a:r>
              <a:rPr lang="fr-FR" dirty="0" err="1"/>
              <a:t>encoding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class Part {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private String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 // The textual description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setName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m_dsc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…</a:t>
            </a:r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class Part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String description;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setDescription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description) {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this.description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description;</a:t>
            </a:r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l-G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0" y="3352801"/>
            <a:ext cx="5715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Besides, people quickly learn to ignore the prefix (or suffix) to see the meaningful part of the name.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The more we read the code, the less we see the prefixes. </a:t>
            </a:r>
            <a:endParaRPr lang="el-GR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Mental Mapping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381000" y="1219202"/>
            <a:ext cx="8077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Readers shouldn’t have to </a:t>
            </a:r>
            <a:r>
              <a:rPr lang="en-US" dirty="0">
                <a:solidFill>
                  <a:srgbClr val="FF0000"/>
                </a:solidFill>
              </a:rPr>
              <a:t>mentally translate your names </a:t>
            </a:r>
            <a:r>
              <a:rPr lang="en-US" dirty="0"/>
              <a:t>into other names they already know. 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problem generally arises from a choice to use neither </a:t>
            </a:r>
            <a:r>
              <a:rPr lang="en-US" dirty="0">
                <a:solidFill>
                  <a:srgbClr val="FF0000"/>
                </a:solidFill>
              </a:rPr>
              <a:t>problem domain terms </a:t>
            </a:r>
            <a:r>
              <a:rPr lang="fr-FR" dirty="0" err="1"/>
              <a:t>nor</a:t>
            </a:r>
            <a:r>
              <a:rPr lang="fr-FR" dirty="0"/>
              <a:t> solution </a:t>
            </a:r>
            <a:r>
              <a:rPr lang="fr-FR" dirty="0" err="1">
                <a:solidFill>
                  <a:srgbClr val="FF0000"/>
                </a:solidFill>
              </a:rPr>
              <a:t>domain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terms</a:t>
            </a:r>
            <a:r>
              <a:rPr lang="fr-FR" dirty="0"/>
              <a:t>.</a:t>
            </a:r>
          </a:p>
          <a:p>
            <a:pPr algn="just"/>
            <a:endParaRPr lang="fr-FR" dirty="0"/>
          </a:p>
          <a:p>
            <a:pPr algn="just"/>
            <a:r>
              <a:rPr lang="en-US" dirty="0"/>
              <a:t>This is a problem with </a:t>
            </a:r>
            <a:r>
              <a:rPr lang="en-US" dirty="0">
                <a:solidFill>
                  <a:srgbClr val="FF0000"/>
                </a:solidFill>
              </a:rPr>
              <a:t>single-letter variable names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Certainly a loop counter may be named </a:t>
            </a:r>
            <a:r>
              <a:rPr lang="en-US" dirty="0" err="1">
                <a:solidFill>
                  <a:srgbClr val="000099"/>
                </a:solidFill>
              </a:rPr>
              <a:t>i</a:t>
            </a:r>
            <a:r>
              <a:rPr lang="en-US" dirty="0"/>
              <a:t> or </a:t>
            </a:r>
            <a:r>
              <a:rPr lang="en-US" dirty="0">
                <a:solidFill>
                  <a:srgbClr val="000099"/>
                </a:solidFill>
              </a:rPr>
              <a:t>j</a:t>
            </a:r>
            <a:r>
              <a:rPr lang="en-US" dirty="0"/>
              <a:t> or </a:t>
            </a:r>
            <a:r>
              <a:rPr lang="en-US" dirty="0">
                <a:solidFill>
                  <a:srgbClr val="000099"/>
                </a:solidFill>
              </a:rPr>
              <a:t>k</a:t>
            </a:r>
            <a:r>
              <a:rPr lang="en-US" dirty="0"/>
              <a:t> (though never </a:t>
            </a:r>
            <a:r>
              <a:rPr lang="en-US" dirty="0">
                <a:solidFill>
                  <a:srgbClr val="000099"/>
                </a:solidFill>
              </a:rPr>
              <a:t>l</a:t>
            </a:r>
            <a:r>
              <a:rPr lang="en-US" dirty="0"/>
              <a:t>!) if its scope is very small and no other names can conflict with it.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However, in most other contexts a </a:t>
            </a:r>
            <a:r>
              <a:rPr lang="en-US" dirty="0">
                <a:solidFill>
                  <a:srgbClr val="FF0000"/>
                </a:solidFill>
              </a:rPr>
              <a:t>single-letter name is a poor choice</a:t>
            </a:r>
            <a:r>
              <a:rPr lang="en-US" dirty="0"/>
              <a:t>;  it’s just a place holder that the reader must mentally map to the actual concept.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Names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762000" y="1828800"/>
            <a:ext cx="716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Classes are concepts of the problem domain. </a:t>
            </a:r>
          </a:p>
          <a:p>
            <a:endParaRPr lang="en-US" dirty="0"/>
          </a:p>
          <a:p>
            <a:r>
              <a:rPr lang="en-US" dirty="0"/>
              <a:t>Hence,  Classes and objects should have </a:t>
            </a:r>
            <a:r>
              <a:rPr lang="en-US" dirty="0">
                <a:solidFill>
                  <a:srgbClr val="FF0000"/>
                </a:solidFill>
              </a:rPr>
              <a:t>noun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noun phrase </a:t>
            </a:r>
            <a:r>
              <a:rPr lang="en-US" dirty="0"/>
              <a:t>names like: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Customer,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WikiPage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, Account, and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AddressParser</a:t>
            </a:r>
            <a:endParaRPr lang="en-US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class name </a:t>
            </a:r>
            <a:r>
              <a:rPr lang="en-US" dirty="0">
                <a:solidFill>
                  <a:srgbClr val="FF0000"/>
                </a:solidFill>
              </a:rPr>
              <a:t>should not</a:t>
            </a:r>
            <a:r>
              <a:rPr lang="en-US" dirty="0"/>
              <a:t> be a </a:t>
            </a:r>
            <a:r>
              <a:rPr lang="en-US" dirty="0">
                <a:solidFill>
                  <a:srgbClr val="FF0000"/>
                </a:solidFill>
              </a:rPr>
              <a:t>verb</a:t>
            </a:r>
            <a:r>
              <a:rPr lang="en-US" dirty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304800" y="1564484"/>
            <a:ext cx="8610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Methods are actions performed by the objects.  Hence, methods should have </a:t>
            </a:r>
            <a:r>
              <a:rPr lang="en-US" dirty="0">
                <a:solidFill>
                  <a:srgbClr val="FF0000"/>
                </a:solidFill>
              </a:rPr>
              <a:t>verb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verb phrase </a:t>
            </a:r>
            <a:r>
              <a:rPr lang="en-US" dirty="0"/>
              <a:t>names like: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postPayment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deletePage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, save</a:t>
            </a:r>
          </a:p>
          <a:p>
            <a:endParaRPr lang="en-US" dirty="0"/>
          </a:p>
          <a:p>
            <a:pPr algn="just"/>
            <a:r>
              <a:rPr lang="en-US" dirty="0" err="1"/>
              <a:t>Accessors</a:t>
            </a:r>
            <a:r>
              <a:rPr lang="en-US" dirty="0"/>
              <a:t>,  </a:t>
            </a:r>
            <a:r>
              <a:rPr lang="en-US" dirty="0" err="1"/>
              <a:t>mutators</a:t>
            </a:r>
            <a:r>
              <a:rPr lang="en-US" dirty="0"/>
              <a:t>, and predicates should be named for their value and prefixed with </a:t>
            </a:r>
            <a:r>
              <a:rPr lang="en-US" dirty="0">
                <a:solidFill>
                  <a:srgbClr val="FF0000"/>
                </a:solidFill>
              </a:rPr>
              <a:t>get</a:t>
            </a:r>
            <a:r>
              <a:rPr lang="en-US" dirty="0"/>
              <a:t>,  </a:t>
            </a:r>
            <a:r>
              <a:rPr lang="en-US" dirty="0">
                <a:solidFill>
                  <a:srgbClr val="FF0000"/>
                </a:solidFill>
              </a:rPr>
              <a:t>set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string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employee.getName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customer.setName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mike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");</a:t>
            </a:r>
          </a:p>
          <a:p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paycheck.isPosted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()) { …. }</a:t>
            </a:r>
          </a:p>
          <a:p>
            <a:endParaRPr lang="en-US" dirty="0"/>
          </a:p>
          <a:p>
            <a:endParaRPr lang="el-G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304800" y="1905002"/>
            <a:ext cx="8610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constructors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overloaded</a:t>
            </a:r>
            <a:r>
              <a:rPr lang="en-US" dirty="0"/>
              <a:t>,  sometimes it is useful to use </a:t>
            </a:r>
            <a:r>
              <a:rPr lang="en-US" dirty="0">
                <a:solidFill>
                  <a:srgbClr val="FF0000"/>
                </a:solidFill>
              </a:rPr>
              <a:t>static factory methods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names</a:t>
            </a:r>
            <a:r>
              <a:rPr lang="en-US" dirty="0"/>
              <a:t> that describe the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lowPoint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(23.0);</a:t>
            </a:r>
          </a:p>
          <a:p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highPoint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(12.5, 23.0);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91440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constructors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overloaded</a:t>
            </a:r>
            <a:r>
              <a:rPr lang="en-US" dirty="0"/>
              <a:t>,  sometimes it is useful to use </a:t>
            </a:r>
            <a:r>
              <a:rPr lang="en-US">
                <a:solidFill>
                  <a:srgbClr val="FF0000"/>
                </a:solidFill>
              </a:rPr>
              <a:t>static creation </a:t>
            </a:r>
            <a:r>
              <a:rPr lang="en-US" dirty="0">
                <a:solidFill>
                  <a:srgbClr val="FF0000"/>
                </a:solidFill>
              </a:rPr>
              <a:t>methods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names</a:t>
            </a:r>
            <a:r>
              <a:rPr lang="en-US" dirty="0"/>
              <a:t> that describe the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lowPoint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Complex.createFromRealNumber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(23.0);</a:t>
            </a:r>
          </a:p>
          <a:p>
            <a:endParaRPr lang="fr-FR" b="1" dirty="0"/>
          </a:p>
          <a:p>
            <a:r>
              <a:rPr lang="fr-FR" b="1" dirty="0"/>
              <a:t>vs.</a:t>
            </a:r>
          </a:p>
          <a:p>
            <a:r>
              <a:rPr lang="fr-FR" b="1" dirty="0"/>
              <a:t> </a:t>
            </a:r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lowPoint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(23.0);</a:t>
            </a:r>
          </a:p>
          <a:p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highPoint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Complex.createFromRealAndImaginary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(12.5, 23.0);</a:t>
            </a:r>
          </a:p>
          <a:p>
            <a:endParaRPr lang="fr-FR" b="1" dirty="0"/>
          </a:p>
          <a:p>
            <a:r>
              <a:rPr lang="fr-FR" b="1" dirty="0"/>
              <a:t>vs.</a:t>
            </a:r>
          </a:p>
          <a:p>
            <a:endParaRPr lang="fr-FR" b="1" dirty="0"/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highPoint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(12.5, 23.0);</a:t>
            </a:r>
          </a:p>
          <a:p>
            <a:endParaRPr lang="fr-FR" dirty="0"/>
          </a:p>
          <a:p>
            <a:pPr algn="just"/>
            <a:r>
              <a:rPr lang="en-US" dirty="0">
                <a:solidFill>
                  <a:srgbClr val="C00000"/>
                </a:solidFill>
              </a:rPr>
              <a:t>How can we enforce the use of the factory methods, instead of the overloaded constructors to the programmers that use our class ??</a:t>
            </a:r>
            <a:endParaRPr lang="el-GR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Names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228600" y="1150977"/>
            <a:ext cx="89154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constructors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overloaded</a:t>
            </a:r>
            <a:r>
              <a:rPr lang="en-US" dirty="0"/>
              <a:t>,  sometimes it is useful to use </a:t>
            </a:r>
            <a:r>
              <a:rPr lang="en-US" dirty="0">
                <a:solidFill>
                  <a:srgbClr val="FF0000"/>
                </a:solidFill>
              </a:rPr>
              <a:t>static factory methods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names</a:t>
            </a:r>
            <a:r>
              <a:rPr lang="en-US" dirty="0"/>
              <a:t> that describe the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lowPoint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Complex.createFromRealNumber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(23.0);</a:t>
            </a:r>
          </a:p>
          <a:p>
            <a:endParaRPr lang="fr-FR" b="1" dirty="0"/>
          </a:p>
          <a:p>
            <a:r>
              <a:rPr lang="fr-FR" b="1" dirty="0"/>
              <a:t>vs.</a:t>
            </a:r>
          </a:p>
          <a:p>
            <a:r>
              <a:rPr lang="fr-FR" b="1" dirty="0"/>
              <a:t> </a:t>
            </a:r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lowPoint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(23.0);</a:t>
            </a:r>
          </a:p>
          <a:p>
            <a:endParaRPr lang="fr-FR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highPoint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Complex.createFromRealAndImaginary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(12.5, 23.0);</a:t>
            </a:r>
          </a:p>
          <a:p>
            <a:endParaRPr lang="fr-FR" b="1" dirty="0"/>
          </a:p>
          <a:p>
            <a:r>
              <a:rPr lang="fr-FR" b="1" dirty="0"/>
              <a:t>vs.</a:t>
            </a:r>
          </a:p>
          <a:p>
            <a:endParaRPr lang="fr-FR" b="1" dirty="0"/>
          </a:p>
          <a:p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highPoint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FR" sz="16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Complex</a:t>
            </a:r>
            <a:r>
              <a:rPr lang="fr-FR" sz="16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(12.5, 23.0);</a:t>
            </a:r>
            <a:endParaRPr lang="fr-FR" b="1" dirty="0"/>
          </a:p>
          <a:p>
            <a:endParaRPr lang="fr-FR" dirty="0"/>
          </a:p>
          <a:p>
            <a:pPr algn="just"/>
            <a:r>
              <a:rPr lang="en-US" dirty="0">
                <a:solidFill>
                  <a:srgbClr val="C00000"/>
                </a:solidFill>
              </a:rPr>
              <a:t>How can we enforce the use of the factory methods, instead of the overloaded constructors to the programmers that use our class ??</a:t>
            </a:r>
          </a:p>
          <a:p>
            <a:pPr algn="just"/>
            <a:endParaRPr lang="en-US" dirty="0">
              <a:solidFill>
                <a:srgbClr val="00B0F0"/>
              </a:solidFill>
            </a:endParaRPr>
          </a:p>
          <a:p>
            <a:pPr algn="just"/>
            <a:r>
              <a:rPr lang="en-US" dirty="0"/>
              <a:t>We can just make the </a:t>
            </a:r>
            <a:r>
              <a:rPr lang="en-US" dirty="0">
                <a:solidFill>
                  <a:srgbClr val="FF0000"/>
                </a:solidFill>
              </a:rPr>
              <a:t>constructors private </a:t>
            </a:r>
            <a:r>
              <a:rPr lang="en-US" dirty="0"/>
              <a:t>!</a:t>
            </a:r>
            <a:endParaRPr lang="el-G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Cute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77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cs typeface="Courier New" pitchFamily="49" charset="0"/>
              </a:rPr>
              <a:t>What is the purpose of these methods ?</a:t>
            </a:r>
          </a:p>
          <a:p>
            <a:pPr algn="just"/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CuteThread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whack();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hitTheRoad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letItRoll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Cute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772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cs typeface="Courier New" pitchFamily="49" charset="0"/>
              </a:rPr>
              <a:t>What is the purpose of these methods ?</a:t>
            </a:r>
          </a:p>
          <a:p>
            <a:pPr algn="just"/>
            <a:endParaRPr lang="en-US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CuteThread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whack();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hitTheRoad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letItRoll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you use </a:t>
            </a:r>
            <a:r>
              <a:rPr lang="en-US" dirty="0">
                <a:solidFill>
                  <a:srgbClr val="FF0000"/>
                </a:solidFill>
              </a:rPr>
              <a:t>clever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humorous names</a:t>
            </a:r>
            <a:r>
              <a:rPr lang="en-US" dirty="0"/>
              <a:t>, they will be memorable only to people who share your sense of humor, and only as long as these people remember the joke.</a:t>
            </a:r>
          </a:p>
          <a:p>
            <a:endParaRPr lang="en-US" dirty="0"/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ClearThread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kill();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run();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execute();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24200" y="5410200"/>
            <a:ext cx="4802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there is a problem here … can you spot it ???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Cute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772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ClearThread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kill();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run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2590800"/>
            <a:ext cx="5190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there is a problem here … can you spot it ???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there is no clear </a:t>
            </a:r>
            <a:r>
              <a:rPr lang="en-US" dirty="0">
                <a:solidFill>
                  <a:srgbClr val="FF0000"/>
                </a:solidFill>
              </a:rPr>
              <a:t>distinction </a:t>
            </a:r>
            <a:r>
              <a:rPr lang="en-US" dirty="0"/>
              <a:t>between</a:t>
            </a:r>
            <a:r>
              <a:rPr lang="en-US" dirty="0">
                <a:solidFill>
                  <a:srgbClr val="FF0000"/>
                </a:solidFill>
              </a:rPr>
              <a:t> run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execute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One Name per Concept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2"/>
            <a:ext cx="777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Pick one word for one abstract concept and stick with it. </a:t>
            </a:r>
          </a:p>
          <a:p>
            <a:endParaRPr lang="en-US" dirty="0"/>
          </a:p>
          <a:p>
            <a:r>
              <a:rPr lang="en-US" dirty="0"/>
              <a:t>For instance, it’s confusing to have: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fetch()</a:t>
            </a:r>
            <a:r>
              <a:rPr lang="en-US" b="1" dirty="0"/>
              <a:t>,  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retrieve()</a:t>
            </a:r>
            <a:r>
              <a:rPr lang="en-US" b="1" dirty="0"/>
              <a:t>, and </a:t>
            </a:r>
            <a:r>
              <a:rPr lang="en-US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get()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/>
              <a:t>as equivalent methods of different classes</a:t>
            </a:r>
          </a:p>
          <a:p>
            <a:endParaRPr lang="en-US" dirty="0"/>
          </a:p>
          <a:p>
            <a:pPr algn="just"/>
            <a:r>
              <a:rPr lang="en-US" dirty="0"/>
              <a:t>Likewise, it’s confusing to have a </a:t>
            </a:r>
            <a:r>
              <a:rPr lang="en-US" dirty="0">
                <a:solidFill>
                  <a:srgbClr val="000099"/>
                </a:solidFill>
              </a:rPr>
              <a:t>Controller</a:t>
            </a:r>
            <a:r>
              <a:rPr lang="en-US" dirty="0"/>
              <a:t> and a </a:t>
            </a:r>
            <a:r>
              <a:rPr lang="en-US" dirty="0">
                <a:solidFill>
                  <a:srgbClr val="000099"/>
                </a:solidFill>
              </a:rPr>
              <a:t>Manager</a:t>
            </a:r>
            <a:r>
              <a:rPr lang="en-US" dirty="0"/>
              <a:t> and a </a:t>
            </a:r>
            <a:r>
              <a:rPr lang="en-US" dirty="0">
                <a:solidFill>
                  <a:srgbClr val="000099"/>
                </a:solidFill>
              </a:rPr>
              <a:t>Driver</a:t>
            </a:r>
            <a:r>
              <a:rPr lang="en-US" dirty="0"/>
              <a:t> in the same </a:t>
            </a:r>
            <a:r>
              <a:rPr lang="fr-FR" dirty="0"/>
              <a:t>code base.</a:t>
            </a:r>
          </a:p>
          <a:p>
            <a:pPr algn="just"/>
            <a:endParaRPr lang="fr-FR" dirty="0"/>
          </a:p>
          <a:p>
            <a:pPr algn="just"/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people </a:t>
            </a:r>
            <a:r>
              <a:rPr lang="fr-FR" dirty="0" err="1"/>
              <a:t>wonder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terms</a:t>
            </a:r>
            <a:r>
              <a:rPr lang="fr-FR" dirty="0"/>
              <a:t>….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Smells and related </a:t>
            </a:r>
            <a:r>
              <a:rPr lang="en-US" dirty="0" err="1"/>
              <a:t>refactorings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https://refactoring.com/catalog/</a:t>
            </a:r>
          </a:p>
        </p:txBody>
      </p:sp>
      <p:pic>
        <p:nvPicPr>
          <p:cNvPr id="1026" name="Picture 2" descr="https://martinfowler.com/books/refac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762000"/>
            <a:ext cx="1516225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Method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5350" y="1295400"/>
            <a:ext cx="6724650" cy="236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9600" y="3886200"/>
            <a:ext cx="792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changing the name, </a:t>
            </a:r>
            <a:r>
              <a:rPr lang="en-US" b="1" u="sng" dirty="0"/>
              <a:t>check if the method </a:t>
            </a:r>
            <a:r>
              <a:rPr lang="en-US" b="1" u="sng" dirty="0">
                <a:solidFill>
                  <a:srgbClr val="FF0000"/>
                </a:solidFill>
              </a:rPr>
              <a:t>overrides</a:t>
            </a:r>
            <a:r>
              <a:rPr lang="en-US" b="1" u="sng" dirty="0"/>
              <a:t> (or is </a:t>
            </a:r>
            <a:r>
              <a:rPr lang="en-US" b="1" u="sng" dirty="0">
                <a:solidFill>
                  <a:srgbClr val="FF0000"/>
                </a:solidFill>
              </a:rPr>
              <a:t>overridden</a:t>
            </a:r>
            <a:r>
              <a:rPr lang="en-US" b="1" u="sng" dirty="0"/>
              <a:t>) a super class method (by subclasses methods). </a:t>
            </a:r>
            <a:r>
              <a:rPr lang="en-US" dirty="0"/>
              <a:t>In that case </a:t>
            </a:r>
            <a:r>
              <a:rPr lang="en-US" dirty="0">
                <a:solidFill>
                  <a:srgbClr val="FF0000"/>
                </a:solidFill>
              </a:rPr>
              <a:t>all the names must change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/>
              <a:t>Changing the name implies changing the callers of the method.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What we do if this is not possible 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We can </a:t>
            </a:r>
            <a:r>
              <a:rPr lang="en-US" b="1" u="sng" dirty="0">
                <a:solidFill>
                  <a:srgbClr val="FF0000"/>
                </a:solidFill>
              </a:rPr>
              <a:t>keep the previous version </a:t>
            </a:r>
            <a:r>
              <a:rPr lang="en-US" dirty="0"/>
              <a:t>of the method and </a:t>
            </a:r>
            <a:r>
              <a:rPr lang="en-US" b="1" dirty="0">
                <a:solidFill>
                  <a:srgbClr val="FF0000"/>
                </a:solidFill>
              </a:rPr>
              <a:t>make it call the new one </a:t>
            </a:r>
            <a:r>
              <a:rPr lang="en-US" b="1" dirty="0"/>
              <a:t>to avoid duplication; </a:t>
            </a:r>
            <a:r>
              <a:rPr lang="en-US" dirty="0"/>
              <a:t>mark the old version of the method as </a:t>
            </a:r>
            <a:r>
              <a:rPr lang="en-US" b="1" u="sng" dirty="0">
                <a:solidFill>
                  <a:srgbClr val="FF0000"/>
                </a:solidFill>
              </a:rPr>
              <a:t>deprecated</a:t>
            </a:r>
            <a:endParaRPr lang="el-GR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Replace Magic Number with Symbolic Constant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8610" name="AutoShape 2" descr="refactor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797" y="1447800"/>
            <a:ext cx="6767203" cy="5156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029200" y="990600"/>
            <a:ext cx="3733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have a literal </a:t>
            </a:r>
            <a:r>
              <a:rPr lang="en-US" dirty="0">
                <a:solidFill>
                  <a:srgbClr val="FF0000"/>
                </a:solidFill>
              </a:rPr>
              <a:t>number</a:t>
            </a:r>
            <a:r>
              <a:rPr lang="en-US" dirty="0"/>
              <a:t> with a </a:t>
            </a:r>
            <a:r>
              <a:rPr lang="en-US" dirty="0">
                <a:solidFill>
                  <a:srgbClr val="FF0000"/>
                </a:solidFill>
              </a:rPr>
              <a:t>particular meaning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i="1" dirty="0"/>
              <a:t>Create </a:t>
            </a:r>
            <a:r>
              <a:rPr lang="en-US" i="1" dirty="0">
                <a:solidFill>
                  <a:srgbClr val="FF0000"/>
                </a:solidFill>
              </a:rPr>
              <a:t>a constant</a:t>
            </a:r>
            <a:r>
              <a:rPr lang="en-US" i="1" dirty="0"/>
              <a:t>, name it after the meaning, and </a:t>
            </a:r>
            <a:r>
              <a:rPr lang="en-US" i="1" dirty="0">
                <a:solidFill>
                  <a:srgbClr val="FF0000"/>
                </a:solidFill>
              </a:rPr>
              <a:t>replace</a:t>
            </a:r>
            <a:r>
              <a:rPr lang="en-US" i="1" dirty="0"/>
              <a:t> the number with it.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AB73C-A2B7-277D-7B7D-512D5519B8F5}"/>
              </a:ext>
            </a:extLst>
          </p:cNvPr>
          <p:cNvSpPr txBox="1"/>
          <p:nvPr/>
        </p:nvSpPr>
        <p:spPr>
          <a:xfrm>
            <a:off x="1295400" y="2819400"/>
            <a:ext cx="739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Examples of naming problems: 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github.com/zarras/mye004-slides/tree/master/Examples/</a:t>
            </a:r>
            <a:r>
              <a:rPr lang="en-US" sz="2000" dirty="0" err="1">
                <a:hlinkClick r:id="rId2"/>
              </a:rPr>
              <a:t>NamingPerls</a:t>
            </a:r>
            <a:r>
              <a:rPr lang="en-US" sz="2000" dirty="0"/>
              <a:t> 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1863057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5376</TotalTime>
  <Words>2666</Words>
  <Application>Microsoft Office PowerPoint</Application>
  <PresentationFormat>Προβολή στην οθόνη (4:3)</PresentationFormat>
  <Paragraphs>485</Paragraphs>
  <Slides>43</Slides>
  <Notes>11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43</vt:i4>
      </vt:variant>
    </vt:vector>
  </HeadingPairs>
  <TitlesOfParts>
    <vt:vector size="51" baseType="lpstr">
      <vt:lpstr>Arial</vt:lpstr>
      <vt:lpstr>Bookman Old Style</vt:lpstr>
      <vt:lpstr>Calibri</vt:lpstr>
      <vt:lpstr>Courier New</vt:lpstr>
      <vt:lpstr>Gill Sans MT</vt:lpstr>
      <vt:lpstr>Wingdings</vt:lpstr>
      <vt:lpstr>Wingdings 3</vt:lpstr>
      <vt:lpstr>Origin</vt:lpstr>
      <vt:lpstr>Meaningful Names www.cs.uoi.gr/~zarras/soft-devII.htm    </vt:lpstr>
      <vt:lpstr>Use Intention Revealing Names</vt:lpstr>
      <vt:lpstr>Use Intention Revealing Names</vt:lpstr>
      <vt:lpstr>Use Intention Revealing Names</vt:lpstr>
      <vt:lpstr>Use Intention Revealing Names</vt:lpstr>
      <vt:lpstr>Use Intention Revealing Names</vt:lpstr>
      <vt:lpstr>Use Intention Revealing Names</vt:lpstr>
      <vt:lpstr>Use Intention Revealing Names</vt:lpstr>
      <vt:lpstr>Use Intention Revealing Names</vt:lpstr>
      <vt:lpstr>Use Intention Revealing Names</vt:lpstr>
      <vt:lpstr>Avoid Disinformation</vt:lpstr>
      <vt:lpstr>Avoid Disinformation</vt:lpstr>
      <vt:lpstr>Avoid Disinformation</vt:lpstr>
      <vt:lpstr>Avoid Disinformation</vt:lpstr>
      <vt:lpstr>Make Meaningful Distinctions </vt:lpstr>
      <vt:lpstr>Make Meaningful Distinctions </vt:lpstr>
      <vt:lpstr>Make Meaningful Distinctions </vt:lpstr>
      <vt:lpstr>Make Meaningful Distinctions </vt:lpstr>
      <vt:lpstr>Use Pronounceable Names </vt:lpstr>
      <vt:lpstr>Use Pronounceable Names </vt:lpstr>
      <vt:lpstr>Use Searchable Names </vt:lpstr>
      <vt:lpstr>Use Searchable Names </vt:lpstr>
      <vt:lpstr>Avoid Encodings</vt:lpstr>
      <vt:lpstr>Avoid Encodings</vt:lpstr>
      <vt:lpstr>Avoid Encodings</vt:lpstr>
      <vt:lpstr>Avoid Encodings</vt:lpstr>
      <vt:lpstr>Avoid Encodings</vt:lpstr>
      <vt:lpstr>Avoid Encodings</vt:lpstr>
      <vt:lpstr>Avoid Encodings</vt:lpstr>
      <vt:lpstr>Avoid Mental Mapping</vt:lpstr>
      <vt:lpstr>Class Names</vt:lpstr>
      <vt:lpstr>Method Names</vt:lpstr>
      <vt:lpstr>Method Names</vt:lpstr>
      <vt:lpstr>Method Names</vt:lpstr>
      <vt:lpstr>Method Names</vt:lpstr>
      <vt:lpstr>Don’t be Cute</vt:lpstr>
      <vt:lpstr>Don’t be Cute</vt:lpstr>
      <vt:lpstr>Don’t be Cute</vt:lpstr>
      <vt:lpstr>Pick One Name per Concept</vt:lpstr>
      <vt:lpstr>Smells and related refactorings</vt:lpstr>
      <vt:lpstr>Rename Method 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ΑΠΟΣΤΟΛΟΣ ΖΑΡΡΑΣ</cp:lastModifiedBy>
  <cp:revision>52</cp:revision>
  <cp:lastPrinted>2024-10-03T09:17:02Z</cp:lastPrinted>
  <dcterms:created xsi:type="dcterms:W3CDTF">2006-08-16T00:00:00Z</dcterms:created>
  <dcterms:modified xsi:type="dcterms:W3CDTF">2025-09-30T16:10:52Z</dcterms:modified>
</cp:coreProperties>
</file>